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5875">
              <a:lnSpc>
                <a:spcPts val="1555"/>
              </a:lnSpc>
            </a:pPr>
            <a:r>
              <a:rPr dirty="0" sz="1300">
                <a:latin typeface="Arial MT"/>
                <a:cs typeface="Arial MT"/>
              </a:rPr>
              <a:t>W</a:t>
            </a:r>
            <a:r>
              <a:rPr dirty="0" sz="1300" spc="32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NotebaokLM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5875">
              <a:lnSpc>
                <a:spcPts val="1555"/>
              </a:lnSpc>
            </a:pPr>
            <a:r>
              <a:rPr dirty="0" sz="1300">
                <a:latin typeface="Arial MT"/>
                <a:cs typeface="Arial MT"/>
              </a:rPr>
              <a:t>W</a:t>
            </a:r>
            <a:r>
              <a:rPr dirty="0" sz="1300" spc="32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NotebaokLM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89014" y="1873250"/>
            <a:ext cx="7721600" cy="5373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5875">
              <a:lnSpc>
                <a:spcPts val="1555"/>
              </a:lnSpc>
            </a:pPr>
            <a:r>
              <a:rPr dirty="0" sz="1300">
                <a:latin typeface="Arial MT"/>
                <a:cs typeface="Arial MT"/>
              </a:rPr>
              <a:t>W</a:t>
            </a:r>
            <a:r>
              <a:rPr dirty="0" sz="1300" spc="32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NotebaokLM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5875">
              <a:lnSpc>
                <a:spcPts val="1555"/>
              </a:lnSpc>
            </a:pPr>
            <a:r>
              <a:rPr dirty="0" sz="1300">
                <a:latin typeface="Arial MT"/>
                <a:cs typeface="Arial MT"/>
              </a:rPr>
              <a:t>W</a:t>
            </a:r>
            <a:r>
              <a:rPr dirty="0" sz="1300" spc="32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NotebaokLM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04200" y="1803400"/>
            <a:ext cx="8394700" cy="6096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850900" y="8506883"/>
            <a:ext cx="614045" cy="0"/>
          </a:xfrm>
          <a:custGeom>
            <a:avLst/>
            <a:gdLst/>
            <a:ahLst/>
            <a:cxnLst/>
            <a:rect l="l" t="t" r="r" b="b"/>
            <a:pathLst>
              <a:path w="614044" h="0">
                <a:moveTo>
                  <a:pt x="0" y="0"/>
                </a:moveTo>
                <a:lnTo>
                  <a:pt x="613833" y="0"/>
                </a:lnTo>
              </a:path>
            </a:pathLst>
          </a:custGeom>
          <a:ln w="29633">
            <a:solidFill>
              <a:srgbClr val="44443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5875">
              <a:lnSpc>
                <a:spcPts val="1555"/>
              </a:lnSpc>
            </a:pPr>
            <a:r>
              <a:rPr dirty="0" sz="1300">
                <a:latin typeface="Arial MT"/>
                <a:cs typeface="Arial MT"/>
              </a:rPr>
              <a:t>W</a:t>
            </a:r>
            <a:r>
              <a:rPr dirty="0" sz="1300" spc="32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NotebaokLM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1687" y="353130"/>
            <a:ext cx="16111824" cy="19957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3755" y="1732138"/>
            <a:ext cx="13418185" cy="3079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6110508" y="9455853"/>
            <a:ext cx="1232472" cy="225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5875">
              <a:lnSpc>
                <a:spcPts val="1555"/>
              </a:lnSpc>
            </a:pPr>
            <a:r>
              <a:rPr dirty="0" sz="1300">
                <a:latin typeface="Arial MT"/>
                <a:cs typeface="Arial MT"/>
              </a:rPr>
              <a:t>W</a:t>
            </a:r>
            <a:r>
              <a:rPr dirty="0" sz="1300" spc="32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NotebaokLM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jp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Relationship Id="rId4" Type="http://schemas.openxmlformats.org/officeDocument/2006/relationships/image" Target="../media/image2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jpg"/><Relationship Id="rId3" Type="http://schemas.openxmlformats.org/officeDocument/2006/relationships/image" Target="../media/image38.jpg"/><Relationship Id="rId4" Type="http://schemas.openxmlformats.org/officeDocument/2006/relationships/image" Target="../media/image39.jpg"/><Relationship Id="rId5" Type="http://schemas.openxmlformats.org/officeDocument/2006/relationships/image" Target="../media/image40.jpg"/><Relationship Id="rId6" Type="http://schemas.openxmlformats.org/officeDocument/2006/relationships/image" Target="../media/image41.jpg"/><Relationship Id="rId7" Type="http://schemas.openxmlformats.org/officeDocument/2006/relationships/image" Target="../media/image42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3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96937" y="2374900"/>
            <a:ext cx="6129020" cy="3244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75">
              <a:lnSpc>
                <a:spcPts val="6625"/>
              </a:lnSpc>
              <a:spcBef>
                <a:spcPts val="100"/>
              </a:spcBef>
            </a:pPr>
            <a:r>
              <a:rPr dirty="0" sz="6250" spc="120">
                <a:solidFill>
                  <a:srgbClr val="232323"/>
                </a:solidFill>
                <a:latin typeface="Calibri"/>
                <a:cs typeface="Calibri"/>
              </a:rPr>
              <a:t>Calibración</a:t>
            </a:r>
            <a:r>
              <a:rPr dirty="0" sz="6250" spc="25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6250" spc="190">
                <a:solidFill>
                  <a:srgbClr val="232323"/>
                </a:solidFill>
                <a:latin typeface="Calibri"/>
                <a:cs typeface="Calibri"/>
              </a:rPr>
              <a:t>de</a:t>
            </a:r>
            <a:endParaRPr sz="6250">
              <a:latin typeface="Calibri"/>
              <a:cs typeface="Calibri"/>
            </a:endParaRPr>
          </a:p>
          <a:p>
            <a:pPr marL="12700" marR="5080" indent="24765">
              <a:lnSpc>
                <a:spcPct val="78100"/>
              </a:lnSpc>
              <a:spcBef>
                <a:spcPts val="830"/>
              </a:spcBef>
              <a:tabLst>
                <a:tab pos="5052060" algn="l"/>
              </a:tabLst>
            </a:pPr>
            <a:r>
              <a:rPr dirty="0" sz="6500" spc="100">
                <a:solidFill>
                  <a:srgbClr val="212121"/>
                </a:solidFill>
                <a:latin typeface="Calibri"/>
                <a:cs typeface="Calibri"/>
              </a:rPr>
              <a:t>Superficies</a:t>
            </a:r>
            <a:r>
              <a:rPr dirty="0" sz="6500" spc="16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6500" spc="100">
                <a:solidFill>
                  <a:srgbClr val="262626"/>
                </a:solidFill>
                <a:latin typeface="Calibri"/>
                <a:cs typeface="Calibri"/>
              </a:rPr>
              <a:t>de </a:t>
            </a:r>
            <a:r>
              <a:rPr dirty="0" sz="6350">
                <a:solidFill>
                  <a:srgbClr val="232323"/>
                </a:solidFill>
                <a:latin typeface="Calibri"/>
                <a:cs typeface="Calibri"/>
              </a:rPr>
              <a:t>Volatilidad</a:t>
            </a:r>
            <a:r>
              <a:rPr dirty="0" sz="6350" spc="165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6350" spc="-25">
                <a:solidFill>
                  <a:srgbClr val="262626"/>
                </a:solidFill>
                <a:latin typeface="Calibri"/>
                <a:cs typeface="Calibri"/>
              </a:rPr>
              <a:t>FX:</a:t>
            </a:r>
            <a:r>
              <a:rPr dirty="0" sz="6350">
                <a:solidFill>
                  <a:srgbClr val="262626"/>
                </a:solidFill>
                <a:latin typeface="Calibri"/>
                <a:cs typeface="Calibri"/>
              </a:rPr>
              <a:t>	</a:t>
            </a:r>
            <a:r>
              <a:rPr dirty="0" sz="6350" spc="-25">
                <a:solidFill>
                  <a:srgbClr val="232323"/>
                </a:solidFill>
                <a:latin typeface="Calibri"/>
                <a:cs typeface="Calibri"/>
              </a:rPr>
              <a:t>SVI </a:t>
            </a:r>
            <a:r>
              <a:rPr dirty="0" sz="6250" spc="220">
                <a:solidFill>
                  <a:srgbClr val="232323"/>
                </a:solidFill>
                <a:latin typeface="Calibri"/>
                <a:cs typeface="Calibri"/>
              </a:rPr>
              <a:t>Libre</a:t>
            </a:r>
            <a:r>
              <a:rPr dirty="0" sz="6250" spc="-26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6250" spc="285">
                <a:solidFill>
                  <a:srgbClr val="232323"/>
                </a:solidFill>
                <a:latin typeface="Calibri"/>
                <a:cs typeface="Calibri"/>
              </a:rPr>
              <a:t>de</a:t>
            </a:r>
            <a:r>
              <a:rPr dirty="0" sz="6250" spc="-15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6250" spc="55">
                <a:solidFill>
                  <a:srgbClr val="232323"/>
                </a:solidFill>
                <a:latin typeface="Calibri"/>
                <a:cs typeface="Calibri"/>
              </a:rPr>
              <a:t>Arbitraje</a:t>
            </a:r>
            <a:endParaRPr sz="625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29373" y="5797197"/>
            <a:ext cx="6339205" cy="1014094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12700" marR="5080" indent="1905">
              <a:lnSpc>
                <a:spcPts val="3700"/>
              </a:lnSpc>
              <a:spcBef>
                <a:spcPts val="540"/>
              </a:spcBef>
            </a:pPr>
            <a:r>
              <a:rPr dirty="0" sz="3400" spc="-90">
                <a:solidFill>
                  <a:srgbClr val="606060"/>
                </a:solidFill>
                <a:latin typeface="Arial MT"/>
                <a:cs typeface="Arial MT"/>
              </a:rPr>
              <a:t>Metodología</a:t>
            </a:r>
            <a:r>
              <a:rPr dirty="0" sz="3400" spc="-75">
                <a:solidFill>
                  <a:srgbClr val="606060"/>
                </a:solidFill>
                <a:latin typeface="Arial MT"/>
                <a:cs typeface="Arial MT"/>
              </a:rPr>
              <a:t> </a:t>
            </a:r>
            <a:r>
              <a:rPr dirty="0" sz="3400" spc="-155">
                <a:solidFill>
                  <a:srgbClr val="646464"/>
                </a:solidFill>
                <a:latin typeface="Arial MT"/>
                <a:cs typeface="Arial MT"/>
              </a:rPr>
              <a:t>de</a:t>
            </a:r>
            <a:r>
              <a:rPr dirty="0" sz="3400" spc="-105">
                <a:solidFill>
                  <a:srgbClr val="646464"/>
                </a:solidFill>
                <a:latin typeface="Arial MT"/>
                <a:cs typeface="Arial MT"/>
              </a:rPr>
              <a:t> </a:t>
            </a:r>
            <a:r>
              <a:rPr dirty="0" sz="3400" spc="-95">
                <a:solidFill>
                  <a:srgbClr val="5D5D5D"/>
                </a:solidFill>
                <a:latin typeface="Arial MT"/>
                <a:cs typeface="Arial MT"/>
              </a:rPr>
              <a:t>Ajuste</a:t>
            </a:r>
            <a:r>
              <a:rPr dirty="0" sz="3400" spc="-14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dirty="0" sz="3400" spc="-125">
                <a:solidFill>
                  <a:srgbClr val="626262"/>
                </a:solidFill>
                <a:latin typeface="Arial MT"/>
                <a:cs typeface="Arial MT"/>
              </a:rPr>
              <a:t>Cónico</a:t>
            </a:r>
            <a:r>
              <a:rPr dirty="0" sz="3400" spc="-105">
                <a:solidFill>
                  <a:srgbClr val="626262"/>
                </a:solidFill>
                <a:latin typeface="Arial MT"/>
                <a:cs typeface="Arial MT"/>
              </a:rPr>
              <a:t> </a:t>
            </a:r>
            <a:r>
              <a:rPr dirty="0" sz="3400" spc="-50">
                <a:solidFill>
                  <a:srgbClr val="646464"/>
                </a:solidFill>
                <a:latin typeface="Arial MT"/>
                <a:cs typeface="Arial MT"/>
              </a:rPr>
              <a:t>y </a:t>
            </a:r>
            <a:r>
              <a:rPr dirty="0" sz="3400" spc="-105">
                <a:solidFill>
                  <a:srgbClr val="5B5B5B"/>
                </a:solidFill>
                <a:latin typeface="Arial MT"/>
                <a:cs typeface="Arial MT"/>
              </a:rPr>
              <a:t>Corrección</a:t>
            </a:r>
            <a:r>
              <a:rPr dirty="0" sz="3400" spc="-95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3400" spc="-55">
                <a:solidFill>
                  <a:srgbClr val="5D5D5D"/>
                </a:solidFill>
                <a:latin typeface="Arial MT"/>
                <a:cs typeface="Arial MT"/>
              </a:rPr>
              <a:t>Asintótica</a:t>
            </a:r>
            <a:r>
              <a:rPr dirty="0" sz="3400" spc="-185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dirty="0" sz="3400" spc="-170">
                <a:solidFill>
                  <a:srgbClr val="5D5D5D"/>
                </a:solidFill>
                <a:latin typeface="Arial MT"/>
                <a:cs typeface="Arial MT"/>
              </a:rPr>
              <a:t>Compensada</a:t>
            </a:r>
            <a:endParaRPr sz="3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24578" y="8620477"/>
            <a:ext cx="4538345" cy="364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150870" algn="l"/>
              </a:tabLst>
            </a:pPr>
            <a:r>
              <a:rPr dirty="0" sz="2200" spc="-70">
                <a:latin typeface="Arial MT"/>
                <a:cs typeface="Arial MT"/>
              </a:rPr>
              <a:t>Implementación</a:t>
            </a:r>
            <a:r>
              <a:rPr dirty="0" sz="2200" spc="-254">
                <a:latin typeface="Arial MT"/>
                <a:cs typeface="Arial MT"/>
              </a:rPr>
              <a:t> </a:t>
            </a:r>
            <a:r>
              <a:rPr dirty="0" sz="2200" spc="-85">
                <a:latin typeface="Arial MT"/>
                <a:cs typeface="Arial MT"/>
              </a:rPr>
              <a:t>Técnica</a:t>
            </a:r>
            <a:r>
              <a:rPr dirty="0" sz="2200" spc="95">
                <a:latin typeface="Arial MT"/>
                <a:cs typeface="Arial MT"/>
              </a:rPr>
              <a:t> </a:t>
            </a:r>
            <a:r>
              <a:rPr dirty="0" sz="2200" spc="-50">
                <a:solidFill>
                  <a:srgbClr val="0C0C0C"/>
                </a:solidFill>
                <a:latin typeface="Arial MT"/>
                <a:cs typeface="Arial MT"/>
              </a:rPr>
              <a:t>-</a:t>
            </a:r>
            <a:r>
              <a:rPr dirty="0" sz="2200">
                <a:solidFill>
                  <a:srgbClr val="0C0C0C"/>
                </a:solidFill>
                <a:latin typeface="Arial MT"/>
                <a:cs typeface="Arial MT"/>
              </a:rPr>
              <a:t>	</a:t>
            </a:r>
            <a:r>
              <a:rPr dirty="0" sz="2200" spc="-114">
                <a:latin typeface="Arial MT"/>
                <a:cs typeface="Arial MT"/>
              </a:rPr>
              <a:t>Quants</a:t>
            </a:r>
            <a:r>
              <a:rPr dirty="0" sz="2200" spc="-40">
                <a:latin typeface="Arial MT"/>
                <a:cs typeface="Arial MT"/>
              </a:rPr>
              <a:t> </a:t>
            </a:r>
            <a:r>
              <a:rPr dirty="0" sz="2200" spc="-175">
                <a:latin typeface="Arial MT"/>
                <a:cs typeface="Arial MT"/>
              </a:rPr>
              <a:t>TVR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7000" y="1739900"/>
            <a:ext cx="9639300" cy="37719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925527" y="4454172"/>
            <a:ext cx="2305050" cy="829944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 marR="5080" indent="814705">
              <a:lnSpc>
                <a:spcPts val="3000"/>
              </a:lnSpc>
              <a:spcBef>
                <a:spcPts val="475"/>
              </a:spcBef>
            </a:pPr>
            <a:r>
              <a:rPr dirty="0" sz="2750" spc="-35">
                <a:latin typeface="Arial MT"/>
                <a:cs typeface="Arial MT"/>
              </a:rPr>
              <a:t>Eficiencia </a:t>
            </a:r>
            <a:r>
              <a:rPr dirty="0" sz="2750" spc="-40">
                <a:latin typeface="Arial MT"/>
                <a:cs typeface="Arial MT"/>
              </a:rPr>
              <a:t>Computacional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8175" rIns="0" bIns="0" rtlCol="0" vert="horz">
            <a:spAutoFit/>
          </a:bodyPr>
          <a:lstStyle/>
          <a:p>
            <a:pPr marL="3806825">
              <a:lnSpc>
                <a:spcPct val="100000"/>
              </a:lnSpc>
              <a:spcBef>
                <a:spcPts val="110"/>
              </a:spcBef>
            </a:pPr>
            <a:r>
              <a:rPr dirty="0" sz="4500" spc="-250"/>
              <a:t>El</a:t>
            </a:r>
            <a:r>
              <a:rPr dirty="0" sz="4500" spc="-280"/>
              <a:t> </a:t>
            </a:r>
            <a:r>
              <a:rPr dirty="0" sz="4500" spc="-114"/>
              <a:t>Desafío:</a:t>
            </a:r>
            <a:r>
              <a:rPr dirty="0" sz="4500" spc="-200"/>
              <a:t> </a:t>
            </a:r>
            <a:r>
              <a:rPr dirty="0" sz="4500" spc="-20"/>
              <a:t>Eficiencia</a:t>
            </a:r>
            <a:r>
              <a:rPr dirty="0" sz="4500" spc="-160"/>
              <a:t> </a:t>
            </a:r>
            <a:r>
              <a:rPr dirty="0" sz="4500" spc="-80"/>
              <a:t>vs.</a:t>
            </a:r>
            <a:r>
              <a:rPr dirty="0" sz="4500" spc="-475"/>
              <a:t> </a:t>
            </a:r>
            <a:r>
              <a:rPr dirty="0" sz="4500" spc="-35"/>
              <a:t>Robustez</a:t>
            </a:r>
            <a:endParaRPr sz="4500"/>
          </a:p>
        </p:txBody>
      </p:sp>
      <p:sp>
        <p:nvSpPr>
          <p:cNvPr id="5" name="object 5" descr=""/>
          <p:cNvSpPr txBox="1"/>
          <p:nvPr/>
        </p:nvSpPr>
        <p:spPr>
          <a:xfrm>
            <a:off x="1367444" y="5815894"/>
            <a:ext cx="6673215" cy="12693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3329"/>
              </a:lnSpc>
              <a:spcBef>
                <a:spcPts val="105"/>
              </a:spcBef>
            </a:pPr>
            <a:r>
              <a:rPr dirty="0" sz="3050" spc="-85">
                <a:latin typeface="Arial MT"/>
                <a:cs typeface="Arial MT"/>
              </a:rPr>
              <a:t>1.</a:t>
            </a:r>
            <a:r>
              <a:rPr dirty="0" sz="3050" spc="-260">
                <a:latin typeface="Arial MT"/>
                <a:cs typeface="Arial MT"/>
              </a:rPr>
              <a:t> </a:t>
            </a:r>
            <a:r>
              <a:rPr dirty="0" sz="3050" spc="-180">
                <a:latin typeface="Arial MT"/>
                <a:cs typeface="Arial MT"/>
              </a:rPr>
              <a:t>Eficiencia</a:t>
            </a:r>
            <a:r>
              <a:rPr dirty="0" sz="3050" spc="10">
                <a:latin typeface="Arial MT"/>
                <a:cs typeface="Arial MT"/>
              </a:rPr>
              <a:t> </a:t>
            </a:r>
            <a:r>
              <a:rPr dirty="0" sz="3050" spc="-155">
                <a:latin typeface="Arial MT"/>
                <a:cs typeface="Arial MT"/>
              </a:rPr>
              <a:t>Computacional</a:t>
            </a:r>
            <a:endParaRPr sz="3050">
              <a:latin typeface="Arial MT"/>
              <a:cs typeface="Arial MT"/>
            </a:endParaRPr>
          </a:p>
          <a:p>
            <a:pPr marL="25400">
              <a:lnSpc>
                <a:spcPts val="3005"/>
              </a:lnSpc>
            </a:pPr>
            <a:r>
              <a:rPr dirty="0" sz="3100" spc="-434">
                <a:latin typeface="Arial MT"/>
                <a:cs typeface="Arial MT"/>
              </a:rPr>
              <a:t>La</a:t>
            </a:r>
            <a:r>
              <a:rPr dirty="0" sz="3100" spc="-40">
                <a:latin typeface="Arial MT"/>
                <a:cs typeface="Arial MT"/>
              </a:rPr>
              <a:t> </a:t>
            </a:r>
            <a:r>
              <a:rPr dirty="0" sz="3100" spc="-305">
                <a:latin typeface="Arial MT"/>
                <a:cs typeface="Arial MT"/>
              </a:rPr>
              <a:t>necesidad</a:t>
            </a:r>
            <a:r>
              <a:rPr dirty="0" sz="3100" spc="110">
                <a:latin typeface="Arial MT"/>
                <a:cs typeface="Arial MT"/>
              </a:rPr>
              <a:t> </a:t>
            </a:r>
            <a:r>
              <a:rPr dirty="0" sz="3100" spc="-385">
                <a:latin typeface="Arial MT"/>
                <a:cs typeface="Arial MT"/>
              </a:rPr>
              <a:t>de</a:t>
            </a:r>
            <a:r>
              <a:rPr dirty="0" sz="3100" spc="-170">
                <a:latin typeface="Arial MT"/>
                <a:cs typeface="Arial MT"/>
              </a:rPr>
              <a:t> </a:t>
            </a:r>
            <a:r>
              <a:rPr dirty="0" sz="3100" spc="-235">
                <a:latin typeface="Arial MT"/>
                <a:cs typeface="Arial MT"/>
              </a:rPr>
              <a:t>ajustar</a:t>
            </a:r>
            <a:r>
              <a:rPr dirty="0" sz="3100" spc="65">
                <a:latin typeface="Arial MT"/>
                <a:cs typeface="Arial MT"/>
              </a:rPr>
              <a:t> </a:t>
            </a:r>
            <a:r>
              <a:rPr dirty="0" sz="3100" spc="-254">
                <a:latin typeface="Arial MT"/>
                <a:cs typeface="Arial MT"/>
              </a:rPr>
              <a:t>smiles</a:t>
            </a:r>
            <a:r>
              <a:rPr dirty="0" sz="3100" spc="-120">
                <a:latin typeface="Arial MT"/>
                <a:cs typeface="Arial MT"/>
              </a:rPr>
              <a:t> </a:t>
            </a:r>
            <a:r>
              <a:rPr dirty="0" sz="3100" spc="-335">
                <a:latin typeface="Arial MT"/>
                <a:cs typeface="Arial MT"/>
              </a:rPr>
              <a:t>en</a:t>
            </a:r>
            <a:r>
              <a:rPr dirty="0" sz="3100" spc="-215">
                <a:latin typeface="Arial MT"/>
                <a:cs typeface="Arial MT"/>
              </a:rPr>
              <a:t> </a:t>
            </a:r>
            <a:r>
              <a:rPr dirty="0" sz="3100" spc="-254">
                <a:latin typeface="Arial MT"/>
                <a:cs typeface="Arial MT"/>
              </a:rPr>
              <a:t>tiempo</a:t>
            </a:r>
            <a:r>
              <a:rPr dirty="0" sz="3100" spc="-80">
                <a:latin typeface="Arial MT"/>
                <a:cs typeface="Arial MT"/>
              </a:rPr>
              <a:t> </a:t>
            </a:r>
            <a:r>
              <a:rPr dirty="0" sz="3100" spc="-300">
                <a:latin typeface="Arial MT"/>
                <a:cs typeface="Arial MT"/>
              </a:rPr>
              <a:t>real</a:t>
            </a:r>
            <a:endParaRPr sz="3100">
              <a:latin typeface="Arial MT"/>
              <a:cs typeface="Arial MT"/>
            </a:endParaRPr>
          </a:p>
          <a:p>
            <a:pPr marL="15240">
              <a:lnSpc>
                <a:spcPts val="3454"/>
              </a:lnSpc>
            </a:pPr>
            <a:r>
              <a:rPr dirty="0" sz="3200" spc="-375">
                <a:latin typeface="Arial MT"/>
                <a:cs typeface="Arial MT"/>
              </a:rPr>
              <a:t>para</a:t>
            </a:r>
            <a:r>
              <a:rPr dirty="0" sz="3200" spc="-5">
                <a:latin typeface="Arial MT"/>
                <a:cs typeface="Arial MT"/>
              </a:rPr>
              <a:t> </a:t>
            </a:r>
            <a:r>
              <a:rPr dirty="0" sz="3200" spc="-300">
                <a:latin typeface="Arial MT"/>
                <a:cs typeface="Arial MT"/>
              </a:rPr>
              <a:t>miles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 spc="-415">
                <a:latin typeface="Arial MT"/>
                <a:cs typeface="Arial MT"/>
              </a:rPr>
              <a:t>de</a:t>
            </a:r>
            <a:r>
              <a:rPr dirty="0" sz="3200" spc="-225">
                <a:latin typeface="Arial MT"/>
                <a:cs typeface="Arial MT"/>
              </a:rPr>
              <a:t> </a:t>
            </a:r>
            <a:r>
              <a:rPr dirty="0" sz="3200" spc="-340">
                <a:latin typeface="Arial MT"/>
                <a:cs typeface="Arial MT"/>
              </a:rPr>
              <a:t>pares</a:t>
            </a:r>
            <a:r>
              <a:rPr dirty="0" sz="3200" spc="-130">
                <a:latin typeface="Arial MT"/>
                <a:cs typeface="Arial MT"/>
              </a:rPr>
              <a:t> </a:t>
            </a:r>
            <a:r>
              <a:rPr dirty="0" sz="3200" spc="-385">
                <a:latin typeface="Arial MT"/>
                <a:cs typeface="Arial MT"/>
              </a:rPr>
              <a:t>y</a:t>
            </a:r>
            <a:r>
              <a:rPr dirty="0" sz="3200" spc="-200">
                <a:latin typeface="Arial MT"/>
                <a:cs typeface="Arial MT"/>
              </a:rPr>
              <a:t> </a:t>
            </a:r>
            <a:r>
              <a:rPr dirty="0" sz="3200" spc="-335">
                <a:latin typeface="Arial MT"/>
                <a:cs typeface="Arial MT"/>
              </a:rPr>
              <a:t>vencimientos.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3204507" y="4434063"/>
            <a:ext cx="1886585" cy="855344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12700" marR="5080" indent="8255">
              <a:lnSpc>
                <a:spcPts val="2950"/>
              </a:lnSpc>
              <a:spcBef>
                <a:spcPts val="725"/>
              </a:spcBef>
            </a:pPr>
            <a:r>
              <a:rPr dirty="0" sz="2950" spc="-204">
                <a:latin typeface="Arial MT"/>
                <a:cs typeface="Arial MT"/>
              </a:rPr>
              <a:t>Garantía</a:t>
            </a:r>
            <a:r>
              <a:rPr dirty="0" sz="2950" spc="40">
                <a:latin typeface="Arial MT"/>
                <a:cs typeface="Arial MT"/>
              </a:rPr>
              <a:t> </a:t>
            </a:r>
            <a:r>
              <a:rPr dirty="0" sz="2950" spc="-25">
                <a:latin typeface="Arial MT"/>
                <a:cs typeface="Arial MT"/>
              </a:rPr>
              <a:t>de </a:t>
            </a:r>
            <a:r>
              <a:rPr dirty="0" sz="2950" spc="-125">
                <a:latin typeface="Arial MT"/>
                <a:cs typeface="Arial MT"/>
              </a:rPr>
              <a:t>No-</a:t>
            </a:r>
            <a:r>
              <a:rPr dirty="0" sz="2950" spc="-90">
                <a:latin typeface="Arial MT"/>
                <a:cs typeface="Arial MT"/>
              </a:rPr>
              <a:t>Arbitraje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424237" y="5807075"/>
            <a:ext cx="6021705" cy="165100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3360"/>
              </a:lnSpc>
              <a:spcBef>
                <a:spcPts val="125"/>
              </a:spcBef>
            </a:pPr>
            <a:r>
              <a:rPr dirty="0" sz="3100" spc="-114">
                <a:latin typeface="Arial MT"/>
                <a:cs typeface="Arial MT"/>
              </a:rPr>
              <a:t>2.</a:t>
            </a:r>
            <a:r>
              <a:rPr dirty="0" sz="3100" spc="-315">
                <a:latin typeface="Arial MT"/>
                <a:cs typeface="Arial MT"/>
              </a:rPr>
              <a:t> </a:t>
            </a:r>
            <a:r>
              <a:rPr dirty="0" sz="3100" spc="-280">
                <a:latin typeface="Arial MT"/>
                <a:cs typeface="Arial MT"/>
              </a:rPr>
              <a:t>Garantía</a:t>
            </a:r>
            <a:r>
              <a:rPr dirty="0" sz="3100" spc="-45">
                <a:latin typeface="Arial MT"/>
                <a:cs typeface="Arial MT"/>
              </a:rPr>
              <a:t> </a:t>
            </a:r>
            <a:r>
              <a:rPr dirty="0" sz="3100" spc="-280">
                <a:latin typeface="Arial MT"/>
                <a:cs typeface="Arial MT"/>
              </a:rPr>
              <a:t>de</a:t>
            </a:r>
            <a:r>
              <a:rPr dirty="0" sz="3100" spc="-290">
                <a:latin typeface="Arial MT"/>
                <a:cs typeface="Arial MT"/>
              </a:rPr>
              <a:t> </a:t>
            </a:r>
            <a:r>
              <a:rPr dirty="0" sz="3100" spc="-229">
                <a:latin typeface="Arial MT"/>
                <a:cs typeface="Arial MT"/>
              </a:rPr>
              <a:t>No-</a:t>
            </a:r>
            <a:r>
              <a:rPr dirty="0" sz="3100" spc="-50">
                <a:latin typeface="Arial MT"/>
                <a:cs typeface="Arial MT"/>
              </a:rPr>
              <a:t>Arbitraje</a:t>
            </a:r>
            <a:endParaRPr sz="3100">
              <a:latin typeface="Arial MT"/>
              <a:cs typeface="Arial MT"/>
            </a:endParaRPr>
          </a:p>
          <a:p>
            <a:pPr marL="12700" marR="5080" indent="12065">
              <a:lnSpc>
                <a:spcPct val="80000"/>
              </a:lnSpc>
              <a:spcBef>
                <a:spcPts val="384"/>
              </a:spcBef>
            </a:pPr>
            <a:r>
              <a:rPr dirty="0" sz="3100" spc="-335">
                <a:latin typeface="Arial MT"/>
                <a:cs typeface="Arial MT"/>
              </a:rPr>
              <a:t>Asegurar</a:t>
            </a:r>
            <a:r>
              <a:rPr dirty="0" sz="3100" spc="140">
                <a:latin typeface="Arial MT"/>
                <a:cs typeface="Arial MT"/>
              </a:rPr>
              <a:t> </a:t>
            </a:r>
            <a:r>
              <a:rPr dirty="0" sz="3100" spc="-260">
                <a:latin typeface="Arial MT"/>
                <a:cs typeface="Arial MT"/>
              </a:rPr>
              <a:t>la</a:t>
            </a:r>
            <a:r>
              <a:rPr dirty="0" sz="3100" spc="-80">
                <a:latin typeface="Arial MT"/>
                <a:cs typeface="Arial MT"/>
              </a:rPr>
              <a:t> </a:t>
            </a:r>
            <a:r>
              <a:rPr dirty="0" sz="3100" spc="-315">
                <a:latin typeface="Arial MT"/>
                <a:cs typeface="Arial MT"/>
              </a:rPr>
              <a:t>ausencia</a:t>
            </a:r>
            <a:r>
              <a:rPr dirty="0" sz="3100" spc="65">
                <a:latin typeface="Arial MT"/>
                <a:cs typeface="Arial MT"/>
              </a:rPr>
              <a:t> </a:t>
            </a:r>
            <a:r>
              <a:rPr dirty="0" sz="3100" spc="-335">
                <a:latin typeface="Arial MT"/>
                <a:cs typeface="Arial MT"/>
              </a:rPr>
              <a:t>de</a:t>
            </a:r>
            <a:r>
              <a:rPr dirty="0" sz="3100" spc="-165">
                <a:latin typeface="Arial MT"/>
                <a:cs typeface="Arial MT"/>
              </a:rPr>
              <a:t> </a:t>
            </a:r>
            <a:r>
              <a:rPr dirty="0" sz="3100" spc="-235">
                <a:latin typeface="Arial MT"/>
                <a:cs typeface="Arial MT"/>
              </a:rPr>
              <a:t>arbitraje</a:t>
            </a:r>
            <a:r>
              <a:rPr dirty="0" sz="3100">
                <a:latin typeface="Arial MT"/>
                <a:cs typeface="Arial MT"/>
              </a:rPr>
              <a:t> </a:t>
            </a:r>
            <a:r>
              <a:rPr dirty="0" sz="3100" spc="-190">
                <a:latin typeface="Arial MT"/>
                <a:cs typeface="Arial MT"/>
              </a:rPr>
              <a:t>estático </a:t>
            </a:r>
            <a:r>
              <a:rPr dirty="0" sz="3200" spc="-295">
                <a:latin typeface="Arial MT"/>
                <a:cs typeface="Arial MT"/>
              </a:rPr>
              <a:t>(calendario</a:t>
            </a:r>
            <a:r>
              <a:rPr dirty="0" sz="3200" spc="125">
                <a:latin typeface="Arial MT"/>
                <a:cs typeface="Arial MT"/>
              </a:rPr>
              <a:t> </a:t>
            </a:r>
            <a:r>
              <a:rPr dirty="0" sz="3200" spc="-500">
                <a:latin typeface="Arial MT"/>
                <a:cs typeface="Arial MT"/>
              </a:rPr>
              <a:t>y</a:t>
            </a:r>
            <a:r>
              <a:rPr dirty="0" sz="3200" spc="-260">
                <a:latin typeface="Arial MT"/>
                <a:cs typeface="Arial MT"/>
              </a:rPr>
              <a:t> </a:t>
            </a:r>
            <a:r>
              <a:rPr dirty="0" sz="3200" spc="-305">
                <a:latin typeface="Arial MT"/>
                <a:cs typeface="Arial MT"/>
              </a:rPr>
              <a:t>mariposa)</a:t>
            </a:r>
            <a:r>
              <a:rPr dirty="0" sz="3200" spc="135">
                <a:latin typeface="Arial MT"/>
                <a:cs typeface="Arial MT"/>
              </a:rPr>
              <a:t> </a:t>
            </a:r>
            <a:r>
              <a:rPr dirty="0" sz="3200" spc="-290">
                <a:latin typeface="Arial MT"/>
                <a:cs typeface="Arial MT"/>
              </a:rPr>
              <a:t>sin</a:t>
            </a:r>
            <a:r>
              <a:rPr dirty="0" sz="3200" spc="-150">
                <a:latin typeface="Arial MT"/>
                <a:cs typeface="Arial MT"/>
              </a:rPr>
              <a:t> </a:t>
            </a:r>
            <a:r>
              <a:rPr dirty="0" sz="3200" spc="-270">
                <a:latin typeface="Arial MT"/>
                <a:cs typeface="Arial MT"/>
              </a:rPr>
              <a:t>sacrificar </a:t>
            </a:r>
            <a:r>
              <a:rPr dirty="0" sz="3100" spc="-270">
                <a:latin typeface="Arial MT"/>
                <a:cs typeface="Arial MT"/>
              </a:rPr>
              <a:t>velocidad.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87882" y="8287455"/>
            <a:ext cx="14651355" cy="893444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13335" marR="5080" indent="-1270">
              <a:lnSpc>
                <a:spcPct val="78100"/>
              </a:lnSpc>
              <a:spcBef>
                <a:spcPts val="935"/>
              </a:spcBef>
            </a:pPr>
            <a:r>
              <a:rPr dirty="0" sz="3200" spc="-350">
                <a:latin typeface="Arial MT"/>
                <a:cs typeface="Arial MT"/>
              </a:rPr>
              <a:t>Key</a:t>
            </a:r>
            <a:r>
              <a:rPr dirty="0" sz="3200" spc="-60">
                <a:latin typeface="Arial MT"/>
                <a:cs typeface="Arial MT"/>
              </a:rPr>
              <a:t> </a:t>
            </a:r>
            <a:r>
              <a:rPr dirty="0" sz="3200" spc="-140">
                <a:latin typeface="Arial MT"/>
                <a:cs typeface="Arial MT"/>
              </a:rPr>
              <a:t>lnsight:</a:t>
            </a:r>
            <a:r>
              <a:rPr dirty="0" sz="3200" spc="-120">
                <a:latin typeface="Arial MT"/>
                <a:cs typeface="Arial MT"/>
              </a:rPr>
              <a:t> </a:t>
            </a:r>
            <a:r>
              <a:rPr dirty="0" sz="3200" spc="-405">
                <a:latin typeface="Arial MT"/>
                <a:cs typeface="Arial MT"/>
              </a:rPr>
              <a:t>Este</a:t>
            </a:r>
            <a:r>
              <a:rPr dirty="0" sz="3200" spc="-90">
                <a:latin typeface="Arial MT"/>
                <a:cs typeface="Arial MT"/>
              </a:rPr>
              <a:t> </a:t>
            </a:r>
            <a:r>
              <a:rPr dirty="0" sz="3200" spc="-280">
                <a:latin typeface="Arial MT"/>
                <a:cs typeface="Arial MT"/>
              </a:rPr>
              <a:t>informe</a:t>
            </a:r>
            <a:r>
              <a:rPr dirty="0" sz="3200" spc="-5">
                <a:latin typeface="Arial MT"/>
                <a:cs typeface="Arial MT"/>
              </a:rPr>
              <a:t> </a:t>
            </a:r>
            <a:r>
              <a:rPr dirty="0" sz="3200" spc="-260">
                <a:latin typeface="Arial MT"/>
                <a:cs typeface="Arial MT"/>
              </a:rPr>
              <a:t>detalla</a:t>
            </a:r>
            <a:r>
              <a:rPr dirty="0" sz="3200" spc="-90">
                <a:latin typeface="Arial MT"/>
                <a:cs typeface="Arial MT"/>
              </a:rPr>
              <a:t> </a:t>
            </a:r>
            <a:r>
              <a:rPr dirty="0" sz="3200" spc="-305">
                <a:latin typeface="Arial MT"/>
                <a:cs typeface="Arial MT"/>
              </a:rPr>
              <a:t>la</a:t>
            </a:r>
            <a:r>
              <a:rPr dirty="0" sz="3200" spc="-95">
                <a:latin typeface="Arial MT"/>
                <a:cs typeface="Arial MT"/>
              </a:rPr>
              <a:t> </a:t>
            </a:r>
            <a:r>
              <a:rPr dirty="0" sz="3200" spc="-325">
                <a:latin typeface="Arial MT"/>
                <a:cs typeface="Arial MT"/>
              </a:rPr>
              <a:t>metodología</a:t>
            </a:r>
            <a:r>
              <a:rPr dirty="0" sz="3200" spc="170">
                <a:latin typeface="Arial MT"/>
                <a:cs typeface="Arial MT"/>
              </a:rPr>
              <a:t> </a:t>
            </a:r>
            <a:r>
              <a:rPr dirty="0" sz="3200" spc="-375">
                <a:latin typeface="Arial MT"/>
                <a:cs typeface="Arial MT"/>
              </a:rPr>
              <a:t>basada</a:t>
            </a:r>
            <a:r>
              <a:rPr dirty="0" sz="3200" spc="45">
                <a:latin typeface="Arial MT"/>
                <a:cs typeface="Arial MT"/>
              </a:rPr>
              <a:t> </a:t>
            </a:r>
            <a:r>
              <a:rPr dirty="0" sz="3200" spc="-380">
                <a:latin typeface="Arial MT"/>
                <a:cs typeface="Arial MT"/>
              </a:rPr>
              <a:t>en</a:t>
            </a:r>
            <a:r>
              <a:rPr dirty="0" sz="3200" spc="-270">
                <a:latin typeface="Arial MT"/>
                <a:cs typeface="Arial MT"/>
              </a:rPr>
              <a:t> </a:t>
            </a:r>
            <a:r>
              <a:rPr dirty="0" sz="3200" spc="-245">
                <a:latin typeface="Arial MT"/>
                <a:cs typeface="Arial MT"/>
              </a:rPr>
              <a:t>la</a:t>
            </a:r>
            <a:r>
              <a:rPr dirty="0" sz="3200" spc="-220">
                <a:latin typeface="Arial MT"/>
                <a:cs typeface="Arial MT"/>
              </a:rPr>
              <a:t> </a:t>
            </a:r>
            <a:r>
              <a:rPr dirty="0" sz="3200" spc="-265">
                <a:latin typeface="Arial MT"/>
                <a:cs typeface="Arial MT"/>
              </a:rPr>
              <a:t>parametrización</a:t>
            </a:r>
            <a:r>
              <a:rPr dirty="0" sz="3200" spc="-380">
                <a:latin typeface="Arial MT"/>
                <a:cs typeface="Arial MT"/>
              </a:rPr>
              <a:t> </a:t>
            </a:r>
            <a:r>
              <a:rPr dirty="0" sz="3200" spc="-520">
                <a:latin typeface="Arial MT"/>
                <a:cs typeface="Arial MT"/>
              </a:rPr>
              <a:t>Raw</a:t>
            </a:r>
            <a:r>
              <a:rPr dirty="0" sz="3200" spc="-190">
                <a:latin typeface="Arial MT"/>
                <a:cs typeface="Arial MT"/>
              </a:rPr>
              <a:t> </a:t>
            </a:r>
            <a:r>
              <a:rPr dirty="0" sz="3200" spc="-470">
                <a:latin typeface="Arial MT"/>
                <a:cs typeface="Arial MT"/>
              </a:rPr>
              <a:t>SVI</a:t>
            </a:r>
            <a:r>
              <a:rPr dirty="0" sz="3200" spc="-50">
                <a:latin typeface="Arial MT"/>
                <a:cs typeface="Arial MT"/>
              </a:rPr>
              <a:t> </a:t>
            </a:r>
            <a:r>
              <a:rPr dirty="0" sz="3200" spc="-360">
                <a:latin typeface="Arial MT"/>
                <a:cs typeface="Arial MT"/>
              </a:rPr>
              <a:t>de</a:t>
            </a:r>
            <a:r>
              <a:rPr dirty="0" sz="3200" spc="-280">
                <a:latin typeface="Arial MT"/>
                <a:cs typeface="Arial MT"/>
              </a:rPr>
              <a:t> </a:t>
            </a:r>
            <a:r>
              <a:rPr dirty="0" sz="3200" spc="-355">
                <a:latin typeface="Arial MT"/>
                <a:cs typeface="Arial MT"/>
              </a:rPr>
              <a:t>Gatheral, </a:t>
            </a:r>
            <a:r>
              <a:rPr dirty="0" sz="3200" spc="-340">
                <a:latin typeface="Arial MT"/>
                <a:cs typeface="Arial MT"/>
              </a:rPr>
              <a:t>combinando</a:t>
            </a:r>
            <a:r>
              <a:rPr dirty="0" sz="3200" spc="135">
                <a:latin typeface="Arial MT"/>
                <a:cs typeface="Arial MT"/>
              </a:rPr>
              <a:t> </a:t>
            </a:r>
            <a:r>
              <a:rPr dirty="0" sz="3200" spc="-305">
                <a:latin typeface="Arial MT"/>
                <a:cs typeface="Arial MT"/>
              </a:rPr>
              <a:t>el</a:t>
            </a:r>
            <a:r>
              <a:rPr dirty="0" sz="3200" spc="-90">
                <a:latin typeface="Arial MT"/>
                <a:cs typeface="Arial MT"/>
              </a:rPr>
              <a:t> </a:t>
            </a:r>
            <a:r>
              <a:rPr dirty="0" sz="3200" spc="-305">
                <a:latin typeface="Arial MT"/>
                <a:cs typeface="Arial MT"/>
              </a:rPr>
              <a:t>ajuste</a:t>
            </a:r>
            <a:r>
              <a:rPr dirty="0" sz="3200" spc="-90">
                <a:latin typeface="Arial MT"/>
                <a:cs typeface="Arial MT"/>
              </a:rPr>
              <a:t> </a:t>
            </a:r>
            <a:r>
              <a:rPr dirty="0" sz="3200" spc="-265">
                <a:latin typeface="Arial MT"/>
                <a:cs typeface="Arial MT"/>
              </a:rPr>
              <a:t>directo</a:t>
            </a:r>
            <a:r>
              <a:rPr dirty="0" sz="3200" spc="60">
                <a:latin typeface="Arial MT"/>
                <a:cs typeface="Arial MT"/>
              </a:rPr>
              <a:t> </a:t>
            </a:r>
            <a:r>
              <a:rPr dirty="0" sz="3200" spc="-415">
                <a:latin typeface="Arial MT"/>
                <a:cs typeface="Arial MT"/>
              </a:rPr>
              <a:t>de</a:t>
            </a:r>
            <a:r>
              <a:rPr dirty="0" sz="3200" spc="-250">
                <a:latin typeface="Arial MT"/>
                <a:cs typeface="Arial MT"/>
              </a:rPr>
              <a:t> </a:t>
            </a:r>
            <a:r>
              <a:rPr dirty="0" sz="3200" spc="-395">
                <a:latin typeface="Arial MT"/>
                <a:cs typeface="Arial MT"/>
              </a:rPr>
              <a:t>Schadner</a:t>
            </a:r>
            <a:r>
              <a:rPr dirty="0" sz="3200" spc="80">
                <a:latin typeface="Arial MT"/>
                <a:cs typeface="Arial MT"/>
              </a:rPr>
              <a:t> </a:t>
            </a:r>
            <a:r>
              <a:rPr dirty="0" sz="3200" spc="-330">
                <a:latin typeface="Arial MT"/>
                <a:cs typeface="Arial MT"/>
              </a:rPr>
              <a:t>con</a:t>
            </a:r>
            <a:r>
              <a:rPr dirty="0" sz="3200" spc="-130">
                <a:latin typeface="Arial MT"/>
                <a:cs typeface="Arial MT"/>
              </a:rPr>
              <a:t> </a:t>
            </a:r>
            <a:r>
              <a:rPr dirty="0" sz="3200" spc="-340">
                <a:latin typeface="Arial MT"/>
                <a:cs typeface="Arial MT"/>
              </a:rPr>
              <a:t>un</a:t>
            </a:r>
            <a:r>
              <a:rPr dirty="0" sz="3200" spc="-165">
                <a:latin typeface="Arial MT"/>
                <a:cs typeface="Arial MT"/>
              </a:rPr>
              <a:t> </a:t>
            </a:r>
            <a:r>
              <a:rPr dirty="0" sz="3200" spc="-254">
                <a:latin typeface="Arial MT"/>
                <a:cs typeface="Arial MT"/>
              </a:rPr>
              <a:t>algoritmo</a:t>
            </a:r>
            <a:r>
              <a:rPr dirty="0" sz="3200" spc="-70">
                <a:latin typeface="Arial MT"/>
                <a:cs typeface="Arial MT"/>
              </a:rPr>
              <a:t> </a:t>
            </a:r>
            <a:r>
              <a:rPr dirty="0" sz="3200" spc="-360">
                <a:latin typeface="Arial MT"/>
                <a:cs typeface="Arial MT"/>
              </a:rPr>
              <a:t>de</a:t>
            </a:r>
            <a:r>
              <a:rPr dirty="0" sz="3200" spc="-240">
                <a:latin typeface="Arial MT"/>
                <a:cs typeface="Arial MT"/>
              </a:rPr>
              <a:t> </a:t>
            </a:r>
            <a:r>
              <a:rPr dirty="0" sz="3200" spc="-300">
                <a:latin typeface="Arial MT"/>
                <a:cs typeface="Arial MT"/>
              </a:rPr>
              <a:t>corrección</a:t>
            </a:r>
            <a:r>
              <a:rPr dirty="0" sz="3200" spc="100">
                <a:latin typeface="Arial MT"/>
                <a:cs typeface="Arial MT"/>
              </a:rPr>
              <a:t> </a:t>
            </a:r>
            <a:r>
              <a:rPr dirty="0" sz="3200" spc="-265">
                <a:latin typeface="Arial MT"/>
                <a:cs typeface="Arial MT"/>
              </a:rPr>
              <a:t>asintótica</a:t>
            </a:r>
            <a:r>
              <a:rPr dirty="0" sz="3200" spc="-50">
                <a:latin typeface="Arial MT"/>
                <a:cs typeface="Arial MT"/>
              </a:rPr>
              <a:t> </a:t>
            </a:r>
            <a:r>
              <a:rPr dirty="0" sz="3200" spc="-350">
                <a:latin typeface="Arial MT"/>
                <a:cs typeface="Arial MT"/>
              </a:rPr>
              <a:t>compensada.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6105975" y="9413522"/>
            <a:ext cx="123063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>
                <a:latin typeface="Arial MT"/>
                <a:cs typeface="Arial MT"/>
              </a:rPr>
              <a:t>G</a:t>
            </a:r>
            <a:r>
              <a:rPr dirty="0" sz="1500" spc="265">
                <a:latin typeface="Arial MT"/>
                <a:cs typeface="Arial MT"/>
              </a:rPr>
              <a:t> </a:t>
            </a:r>
            <a:r>
              <a:rPr dirty="0" sz="1500" spc="-90">
                <a:latin typeface="Arial MT"/>
                <a:cs typeface="Arial MT"/>
              </a:rPr>
              <a:t>NotebookLM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2500" y="4597400"/>
            <a:ext cx="7556500" cy="42418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1600" y="2984500"/>
            <a:ext cx="1587500" cy="8382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24400" y="3124200"/>
            <a:ext cx="546100" cy="5461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24500" y="2984500"/>
            <a:ext cx="558800" cy="8255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91300" y="2984500"/>
            <a:ext cx="660400" cy="8255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74200" y="3124200"/>
            <a:ext cx="546100" cy="5461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287000" y="2743200"/>
            <a:ext cx="5715000" cy="1168400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3289300" y="3450166"/>
            <a:ext cx="537845" cy="42545"/>
            <a:chOff x="3289300" y="3450166"/>
            <a:chExt cx="537845" cy="42545"/>
          </a:xfrm>
        </p:grpSpPr>
        <p:sp>
          <p:nvSpPr>
            <p:cNvPr id="10" name="object 10" descr=""/>
            <p:cNvSpPr/>
            <p:nvPr/>
          </p:nvSpPr>
          <p:spPr>
            <a:xfrm>
              <a:off x="3302000" y="3477683"/>
              <a:ext cx="525145" cy="0"/>
            </a:xfrm>
            <a:custGeom>
              <a:avLst/>
              <a:gdLst/>
              <a:ahLst/>
              <a:cxnLst/>
              <a:rect l="l" t="t" r="r" b="b"/>
              <a:pathLst>
                <a:path w="525145" h="0">
                  <a:moveTo>
                    <a:pt x="0" y="0"/>
                  </a:moveTo>
                  <a:lnTo>
                    <a:pt x="524933" y="0"/>
                  </a:lnTo>
                </a:path>
              </a:pathLst>
            </a:custGeom>
            <a:ln w="29633">
              <a:solidFill>
                <a:srgbClr val="13131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289300" y="3464983"/>
              <a:ext cx="537845" cy="0"/>
            </a:xfrm>
            <a:custGeom>
              <a:avLst/>
              <a:gdLst/>
              <a:ahLst/>
              <a:cxnLst/>
              <a:rect l="l" t="t" r="r" b="b"/>
              <a:pathLst>
                <a:path w="537845" h="0">
                  <a:moveTo>
                    <a:pt x="0" y="0"/>
                  </a:moveTo>
                  <a:lnTo>
                    <a:pt x="537633" y="0"/>
                  </a:lnTo>
                </a:path>
              </a:pathLst>
            </a:custGeom>
            <a:ln w="29633">
              <a:solidFill>
                <a:srgbClr val="13131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3289300" y="3285066"/>
            <a:ext cx="537845" cy="42545"/>
            <a:chOff x="3289300" y="3285066"/>
            <a:chExt cx="537845" cy="42545"/>
          </a:xfrm>
        </p:grpSpPr>
        <p:sp>
          <p:nvSpPr>
            <p:cNvPr id="13" name="object 13" descr=""/>
            <p:cNvSpPr/>
            <p:nvPr/>
          </p:nvSpPr>
          <p:spPr>
            <a:xfrm>
              <a:off x="3302000" y="3312583"/>
              <a:ext cx="525145" cy="0"/>
            </a:xfrm>
            <a:custGeom>
              <a:avLst/>
              <a:gdLst/>
              <a:ahLst/>
              <a:cxnLst/>
              <a:rect l="l" t="t" r="r" b="b"/>
              <a:pathLst>
                <a:path w="525145" h="0">
                  <a:moveTo>
                    <a:pt x="0" y="0"/>
                  </a:moveTo>
                  <a:lnTo>
                    <a:pt x="524933" y="0"/>
                  </a:lnTo>
                </a:path>
              </a:pathLst>
            </a:custGeom>
            <a:ln w="29633">
              <a:solidFill>
                <a:srgbClr val="1C1C1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289300" y="3299883"/>
              <a:ext cx="537845" cy="0"/>
            </a:xfrm>
            <a:custGeom>
              <a:avLst/>
              <a:gdLst/>
              <a:ahLst/>
              <a:cxnLst/>
              <a:rect l="l" t="t" r="r" b="b"/>
              <a:pathLst>
                <a:path w="537845" h="0">
                  <a:moveTo>
                    <a:pt x="0" y="0"/>
                  </a:moveTo>
                  <a:lnTo>
                    <a:pt x="537633" y="0"/>
                  </a:lnTo>
                </a:path>
              </a:pathLst>
            </a:custGeom>
            <a:ln w="29633">
              <a:solidFill>
                <a:srgbClr val="1C1C1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/>
          <p:nvPr/>
        </p:nvSpPr>
        <p:spPr>
          <a:xfrm>
            <a:off x="7518400" y="3388783"/>
            <a:ext cx="487045" cy="0"/>
          </a:xfrm>
          <a:custGeom>
            <a:avLst/>
            <a:gdLst/>
            <a:ahLst/>
            <a:cxnLst/>
            <a:rect l="l" t="t" r="r" b="b"/>
            <a:pathLst>
              <a:path w="487045" h="0">
                <a:moveTo>
                  <a:pt x="0" y="0"/>
                </a:moveTo>
                <a:lnTo>
                  <a:pt x="486833" y="0"/>
                </a:lnTo>
              </a:path>
            </a:pathLst>
          </a:custGeom>
          <a:ln w="2963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429029" y="353130"/>
            <a:ext cx="8599805" cy="79819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5050" spc="225">
                <a:latin typeface="Calibri"/>
                <a:cs typeface="Calibri"/>
              </a:rPr>
              <a:t>La</a:t>
            </a:r>
            <a:r>
              <a:rPr dirty="0" sz="5050" spc="-360">
                <a:latin typeface="Calibri"/>
                <a:cs typeface="Calibri"/>
              </a:rPr>
              <a:t> </a:t>
            </a:r>
            <a:r>
              <a:rPr dirty="0" sz="5050">
                <a:latin typeface="Calibri"/>
                <a:cs typeface="Calibri"/>
              </a:rPr>
              <a:t>Base:</a:t>
            </a:r>
            <a:r>
              <a:rPr dirty="0" sz="5050" spc="-285">
                <a:latin typeface="Calibri"/>
                <a:cs typeface="Calibri"/>
              </a:rPr>
              <a:t> </a:t>
            </a:r>
            <a:r>
              <a:rPr dirty="0" sz="5050" spc="-75">
                <a:latin typeface="Calibri"/>
                <a:cs typeface="Calibri"/>
              </a:rPr>
              <a:t>Parametrización</a:t>
            </a:r>
            <a:r>
              <a:rPr dirty="0" sz="5050" spc="-229">
                <a:latin typeface="Calibri"/>
                <a:cs typeface="Calibri"/>
              </a:rPr>
              <a:t> </a:t>
            </a:r>
            <a:r>
              <a:rPr dirty="0" sz="5050" spc="-10">
                <a:latin typeface="Calibri"/>
                <a:cs typeface="Calibri"/>
              </a:rPr>
              <a:t>Raw</a:t>
            </a:r>
            <a:r>
              <a:rPr dirty="0" sz="5050" spc="-130">
                <a:latin typeface="Calibri"/>
                <a:cs typeface="Calibri"/>
              </a:rPr>
              <a:t> </a:t>
            </a:r>
            <a:r>
              <a:rPr dirty="0" sz="5050" spc="30">
                <a:latin typeface="Calibri"/>
                <a:cs typeface="Calibri"/>
              </a:rPr>
              <a:t>SVI</a:t>
            </a:r>
            <a:endParaRPr sz="505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5875">
              <a:lnSpc>
                <a:spcPts val="1555"/>
              </a:lnSpc>
            </a:pPr>
            <a:r>
              <a:rPr dirty="0" sz="1300">
                <a:latin typeface="Arial MT"/>
                <a:cs typeface="Arial MT"/>
              </a:rPr>
              <a:t>W</a:t>
            </a:r>
            <a:r>
              <a:rPr dirty="0" sz="1300" spc="32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NotebaokLM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953801" y="1510594"/>
            <a:ext cx="11567795" cy="4914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50" spc="-305">
                <a:latin typeface="Arial MT"/>
                <a:cs typeface="Arial MT"/>
              </a:rPr>
              <a:t>El</a:t>
            </a:r>
            <a:r>
              <a:rPr dirty="0" sz="3050" spc="-130">
                <a:latin typeface="Arial MT"/>
                <a:cs typeface="Arial MT"/>
              </a:rPr>
              <a:t> </a:t>
            </a:r>
            <a:r>
              <a:rPr dirty="0" sz="3050" spc="-210">
                <a:latin typeface="Arial MT"/>
                <a:cs typeface="Arial MT"/>
              </a:rPr>
              <a:t>modelo</a:t>
            </a:r>
            <a:r>
              <a:rPr dirty="0" sz="3050" spc="-60">
                <a:latin typeface="Arial MT"/>
                <a:cs typeface="Arial MT"/>
              </a:rPr>
              <a:t> </a:t>
            </a:r>
            <a:r>
              <a:rPr dirty="0" sz="3050" spc="-190">
                <a:latin typeface="Arial MT"/>
                <a:cs typeface="Arial MT"/>
              </a:rPr>
              <a:t>define</a:t>
            </a:r>
            <a:r>
              <a:rPr dirty="0" sz="3050" spc="-70">
                <a:latin typeface="Arial MT"/>
                <a:cs typeface="Arial MT"/>
              </a:rPr>
              <a:t> </a:t>
            </a:r>
            <a:r>
              <a:rPr dirty="0" sz="3050" spc="-175">
                <a:latin typeface="Arial MT"/>
                <a:cs typeface="Arial MT"/>
              </a:rPr>
              <a:t>la</a:t>
            </a:r>
            <a:r>
              <a:rPr dirty="0" sz="3050" spc="-130">
                <a:latin typeface="Arial MT"/>
                <a:cs typeface="Arial MT"/>
              </a:rPr>
              <a:t> </a:t>
            </a:r>
            <a:r>
              <a:rPr dirty="0" sz="3050" spc="-235">
                <a:latin typeface="Arial MT"/>
                <a:cs typeface="Arial MT"/>
              </a:rPr>
              <a:t>varianza</a:t>
            </a:r>
            <a:r>
              <a:rPr dirty="0" sz="3050" spc="50">
                <a:latin typeface="Arial MT"/>
                <a:cs typeface="Arial MT"/>
              </a:rPr>
              <a:t> </a:t>
            </a:r>
            <a:r>
              <a:rPr dirty="0" sz="3050" spc="-100">
                <a:latin typeface="Arial MT"/>
                <a:cs typeface="Arial MT"/>
              </a:rPr>
              <a:t>total</a:t>
            </a:r>
            <a:r>
              <a:rPr dirty="0" sz="3050" spc="-50">
                <a:latin typeface="Arial MT"/>
                <a:cs typeface="Arial MT"/>
              </a:rPr>
              <a:t> </a:t>
            </a:r>
            <a:r>
              <a:rPr dirty="0" sz="3050" spc="-229">
                <a:latin typeface="Arial MT"/>
                <a:cs typeface="Arial MT"/>
              </a:rPr>
              <a:t>acumulada</a:t>
            </a:r>
            <a:r>
              <a:rPr dirty="0" sz="3050" spc="110">
                <a:latin typeface="Arial MT"/>
                <a:cs typeface="Arial MT"/>
              </a:rPr>
              <a:t> </a:t>
            </a:r>
            <a:r>
              <a:rPr dirty="0" sz="3050">
                <a:latin typeface="Arial MT"/>
                <a:cs typeface="Arial MT"/>
              </a:rPr>
              <a:t>w(k)</a:t>
            </a:r>
            <a:r>
              <a:rPr dirty="0" sz="3050" spc="45">
                <a:latin typeface="Arial MT"/>
                <a:cs typeface="Arial MT"/>
              </a:rPr>
              <a:t> </a:t>
            </a:r>
            <a:r>
              <a:rPr dirty="0" sz="3050" spc="-265">
                <a:latin typeface="Arial MT"/>
                <a:cs typeface="Arial MT"/>
              </a:rPr>
              <a:t>para</a:t>
            </a:r>
            <a:r>
              <a:rPr dirty="0" sz="3050" spc="-10">
                <a:latin typeface="Arial MT"/>
                <a:cs typeface="Arial MT"/>
              </a:rPr>
              <a:t> </a:t>
            </a:r>
            <a:r>
              <a:rPr dirty="0" sz="3050" spc="-275">
                <a:latin typeface="Arial MT"/>
                <a:cs typeface="Arial MT"/>
              </a:rPr>
              <a:t>un</a:t>
            </a:r>
            <a:r>
              <a:rPr dirty="0" sz="3050" spc="-130">
                <a:latin typeface="Arial MT"/>
                <a:cs typeface="Arial MT"/>
              </a:rPr>
              <a:t> </a:t>
            </a:r>
            <a:r>
              <a:rPr dirty="0" sz="3050" spc="-200">
                <a:latin typeface="Arial MT"/>
                <a:cs typeface="Arial MT"/>
              </a:rPr>
              <a:t>log-</a:t>
            </a:r>
            <a:r>
              <a:rPr dirty="0" sz="3050" spc="-265">
                <a:latin typeface="Arial MT"/>
                <a:cs typeface="Arial MT"/>
              </a:rPr>
              <a:t>moneyness</a:t>
            </a:r>
            <a:r>
              <a:rPr dirty="0" sz="3050" spc="145">
                <a:latin typeface="Arial MT"/>
                <a:cs typeface="Arial MT"/>
              </a:rPr>
              <a:t> </a:t>
            </a:r>
            <a:r>
              <a:rPr dirty="0" sz="3050" spc="-25">
                <a:latin typeface="Arial MT"/>
                <a:cs typeface="Arial MT"/>
              </a:rPr>
              <a:t>k.</a:t>
            </a:r>
            <a:endParaRPr sz="305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035884" y="5989813"/>
            <a:ext cx="1901825" cy="480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950" spc="-75">
                <a:solidFill>
                  <a:srgbClr val="16679C"/>
                </a:solidFill>
                <a:latin typeface="Arial MT"/>
                <a:cs typeface="Arial MT"/>
              </a:rPr>
              <a:t>b</a:t>
            </a:r>
            <a:r>
              <a:rPr dirty="0" sz="2950" spc="-280">
                <a:solidFill>
                  <a:srgbClr val="16679C"/>
                </a:solidFill>
                <a:latin typeface="Arial MT"/>
                <a:cs typeface="Arial MT"/>
              </a:rPr>
              <a:t> </a:t>
            </a:r>
            <a:r>
              <a:rPr dirty="0" sz="2950" spc="-235">
                <a:latin typeface="Arial MT"/>
                <a:cs typeface="Arial MT"/>
              </a:rPr>
              <a:t>(Pendiente)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391593" y="7899752"/>
            <a:ext cx="1218565" cy="459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50" spc="75">
                <a:solidFill>
                  <a:srgbClr val="6E2D6D"/>
                </a:solidFill>
                <a:latin typeface="Arial MT"/>
                <a:cs typeface="Arial MT"/>
              </a:rPr>
              <a:t>o</a:t>
            </a:r>
            <a:r>
              <a:rPr dirty="0" sz="2850" spc="-150">
                <a:solidFill>
                  <a:srgbClr val="6E2D6D"/>
                </a:solidFill>
                <a:latin typeface="Arial MT"/>
                <a:cs typeface="Arial MT"/>
              </a:rPr>
              <a:t> </a:t>
            </a:r>
            <a:r>
              <a:rPr dirty="0" sz="2850" spc="-165">
                <a:latin typeface="Arial MT"/>
                <a:cs typeface="Arial MT"/>
              </a:rPr>
              <a:t>(Nivel)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8778672" y="5401733"/>
            <a:ext cx="2550160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-180">
                <a:latin typeface="Arial MT"/>
                <a:cs typeface="Arial MT"/>
              </a:rPr>
              <a:t>(Desplazamiento)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8433493" y="6401152"/>
            <a:ext cx="1183005" cy="459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50" spc="-130">
                <a:latin typeface="Arial MT"/>
                <a:cs typeface="Arial MT"/>
              </a:rPr>
              <a:t>otación)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2421760" y="5998633"/>
            <a:ext cx="1902460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-55">
                <a:solidFill>
                  <a:srgbClr val="1A6095"/>
                </a:solidFill>
                <a:latin typeface="Arial MT"/>
                <a:cs typeface="Arial MT"/>
              </a:rPr>
              <a:t>b</a:t>
            </a:r>
            <a:r>
              <a:rPr dirty="0" sz="2900" spc="-260">
                <a:solidFill>
                  <a:srgbClr val="1A6095"/>
                </a:solidFill>
                <a:latin typeface="Arial MT"/>
                <a:cs typeface="Arial MT"/>
              </a:rPr>
              <a:t> </a:t>
            </a:r>
            <a:r>
              <a:rPr dirty="0" sz="2900" spc="-215">
                <a:latin typeface="Arial MT"/>
                <a:cs typeface="Arial MT"/>
              </a:rPr>
              <a:t>(Pendiente)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2421293" y="7861652"/>
            <a:ext cx="1918335" cy="459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2740" algn="l"/>
              </a:tabLst>
            </a:pPr>
            <a:r>
              <a:rPr dirty="0" sz="2850" spc="-320">
                <a:solidFill>
                  <a:srgbClr val="34754B"/>
                </a:solidFill>
                <a:latin typeface="Arial MT"/>
                <a:cs typeface="Arial MT"/>
              </a:rPr>
              <a:t>o</a:t>
            </a:r>
            <a:r>
              <a:rPr dirty="0" sz="2850">
                <a:solidFill>
                  <a:srgbClr val="34754B"/>
                </a:solidFill>
                <a:latin typeface="Arial MT"/>
                <a:cs typeface="Arial MT"/>
              </a:rPr>
              <a:t>	</a:t>
            </a:r>
            <a:r>
              <a:rPr dirty="0" sz="2850" spc="-190">
                <a:latin typeface="Arial MT"/>
                <a:cs typeface="Arial MT"/>
              </a:rPr>
              <a:t>(Curvatura)</a:t>
            </a:r>
            <a:endParaRPr sz="2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69400" y="3733800"/>
            <a:ext cx="6616700" cy="51435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71300" y="2565400"/>
            <a:ext cx="673100" cy="9398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877800" y="1676400"/>
            <a:ext cx="3251200" cy="660400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8701616" y="5444066"/>
            <a:ext cx="0" cy="3357245"/>
          </a:xfrm>
          <a:custGeom>
            <a:avLst/>
            <a:gdLst/>
            <a:ahLst/>
            <a:cxnLst/>
            <a:rect l="l" t="t" r="r" b="b"/>
            <a:pathLst>
              <a:path w="0" h="3357245">
                <a:moveTo>
                  <a:pt x="0" y="3357033"/>
                </a:moveTo>
                <a:lnTo>
                  <a:pt x="0" y="0"/>
                </a:lnTo>
              </a:path>
            </a:pathLst>
          </a:custGeom>
          <a:ln w="4233">
            <a:solidFill>
              <a:srgbClr val="5474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6575616" y="2015067"/>
            <a:ext cx="0" cy="6684645"/>
          </a:xfrm>
          <a:custGeom>
            <a:avLst/>
            <a:gdLst/>
            <a:ahLst/>
            <a:cxnLst/>
            <a:rect l="l" t="t" r="r" b="b"/>
            <a:pathLst>
              <a:path w="0" h="6684645">
                <a:moveTo>
                  <a:pt x="0" y="6684433"/>
                </a:moveTo>
                <a:lnTo>
                  <a:pt x="0" y="0"/>
                </a:lnTo>
              </a:path>
            </a:pathLst>
          </a:custGeom>
          <a:ln w="4233">
            <a:solidFill>
              <a:srgbClr val="54748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8699500" y="5444066"/>
            <a:ext cx="3319145" cy="42545"/>
            <a:chOff x="8699500" y="5444066"/>
            <a:chExt cx="3319145" cy="42545"/>
          </a:xfrm>
        </p:grpSpPr>
        <p:sp>
          <p:nvSpPr>
            <p:cNvPr id="8" name="object 8" descr=""/>
            <p:cNvSpPr/>
            <p:nvPr/>
          </p:nvSpPr>
          <p:spPr>
            <a:xfrm>
              <a:off x="8699500" y="5484283"/>
              <a:ext cx="3319145" cy="0"/>
            </a:xfrm>
            <a:custGeom>
              <a:avLst/>
              <a:gdLst/>
              <a:ahLst/>
              <a:cxnLst/>
              <a:rect l="l" t="t" r="r" b="b"/>
              <a:pathLst>
                <a:path w="3319145" h="0">
                  <a:moveTo>
                    <a:pt x="0" y="0"/>
                  </a:moveTo>
                  <a:lnTo>
                    <a:pt x="3318933" y="0"/>
                  </a:lnTo>
                </a:path>
              </a:pathLst>
            </a:custGeom>
            <a:ln w="4233">
              <a:solidFill>
                <a:srgbClr val="5474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8699500" y="5446183"/>
              <a:ext cx="3319145" cy="0"/>
            </a:xfrm>
            <a:custGeom>
              <a:avLst/>
              <a:gdLst/>
              <a:ahLst/>
              <a:cxnLst/>
              <a:rect l="l" t="t" r="r" b="b"/>
              <a:pathLst>
                <a:path w="3319145" h="0">
                  <a:moveTo>
                    <a:pt x="0" y="0"/>
                  </a:moveTo>
                  <a:lnTo>
                    <a:pt x="3318933" y="0"/>
                  </a:lnTo>
                </a:path>
              </a:pathLst>
            </a:custGeom>
            <a:ln w="4233">
              <a:solidFill>
                <a:srgbClr val="54748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23200" y="1816100"/>
            <a:ext cx="4902200" cy="46990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243300" y="1930400"/>
            <a:ext cx="292100" cy="19050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97900" y="8166100"/>
            <a:ext cx="203200" cy="17780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144510" y="370769"/>
            <a:ext cx="13127355" cy="7772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86765" algn="l"/>
              </a:tabLst>
            </a:pPr>
            <a:r>
              <a:rPr dirty="0" sz="4900" spc="-25">
                <a:latin typeface="Calibri"/>
                <a:cs typeface="Calibri"/>
              </a:rPr>
              <a:t>La</a:t>
            </a:r>
            <a:r>
              <a:rPr dirty="0" sz="4900">
                <a:latin typeface="Calibri"/>
                <a:cs typeface="Calibri"/>
              </a:rPr>
              <a:t>	Innovación:</a:t>
            </a:r>
            <a:r>
              <a:rPr dirty="0" sz="4900" spc="145">
                <a:latin typeface="Calibri"/>
                <a:cs typeface="Calibri"/>
              </a:rPr>
              <a:t> </a:t>
            </a:r>
            <a:r>
              <a:rPr dirty="0" sz="4900" spc="120">
                <a:latin typeface="Calibri"/>
                <a:cs typeface="Calibri"/>
              </a:rPr>
              <a:t>El</a:t>
            </a:r>
            <a:r>
              <a:rPr dirty="0" sz="4900" spc="-210">
                <a:latin typeface="Calibri"/>
                <a:cs typeface="Calibri"/>
              </a:rPr>
              <a:t> </a:t>
            </a:r>
            <a:r>
              <a:rPr dirty="0" sz="4900">
                <a:latin typeface="Calibri"/>
                <a:cs typeface="Calibri"/>
              </a:rPr>
              <a:t>Enfoque</a:t>
            </a:r>
            <a:r>
              <a:rPr dirty="0" sz="4900" spc="105">
                <a:latin typeface="Calibri"/>
                <a:cs typeface="Calibri"/>
              </a:rPr>
              <a:t> </a:t>
            </a:r>
            <a:r>
              <a:rPr dirty="0" sz="4900" spc="-10">
                <a:latin typeface="Calibri"/>
                <a:cs typeface="Calibri"/>
              </a:rPr>
              <a:t>Geométrico</a:t>
            </a:r>
            <a:r>
              <a:rPr dirty="0" sz="4900" spc="70">
                <a:latin typeface="Calibri"/>
                <a:cs typeface="Calibri"/>
              </a:rPr>
              <a:t> de</a:t>
            </a:r>
            <a:r>
              <a:rPr dirty="0" sz="4900" spc="-165">
                <a:latin typeface="Calibri"/>
                <a:cs typeface="Calibri"/>
              </a:rPr>
              <a:t> </a:t>
            </a:r>
            <a:r>
              <a:rPr dirty="0" sz="4900" spc="-10">
                <a:latin typeface="Calibri"/>
                <a:cs typeface="Calibri"/>
              </a:rPr>
              <a:t>Schadner</a:t>
            </a:r>
            <a:endParaRPr sz="49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5875">
              <a:lnSpc>
                <a:spcPts val="1555"/>
              </a:lnSpc>
            </a:pPr>
            <a:r>
              <a:rPr dirty="0" sz="1300">
                <a:latin typeface="Arial MT"/>
                <a:cs typeface="Arial MT"/>
              </a:rPr>
              <a:t>W</a:t>
            </a:r>
            <a:r>
              <a:rPr dirty="0" sz="1300" spc="32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NotebaokLM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367264" y="1617133"/>
            <a:ext cx="5078095" cy="1732914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 marR="5080" indent="2540">
              <a:lnSpc>
                <a:spcPts val="3300"/>
              </a:lnSpc>
              <a:spcBef>
                <a:spcPts val="375"/>
              </a:spcBef>
            </a:pPr>
            <a:r>
              <a:rPr dirty="0" sz="2900" spc="-220">
                <a:latin typeface="Arial MT"/>
                <a:cs typeface="Arial MT"/>
              </a:rPr>
              <a:t>La</a:t>
            </a:r>
            <a:r>
              <a:rPr dirty="0" sz="2900" spc="-10">
                <a:latin typeface="Arial MT"/>
                <a:cs typeface="Arial MT"/>
              </a:rPr>
              <a:t> </a:t>
            </a:r>
            <a:r>
              <a:rPr dirty="0" sz="2900" spc="-85">
                <a:latin typeface="Arial MT"/>
                <a:cs typeface="Arial MT"/>
              </a:rPr>
              <a:t>innovación</a:t>
            </a:r>
            <a:r>
              <a:rPr dirty="0" sz="2900" spc="-30">
                <a:latin typeface="Arial MT"/>
                <a:cs typeface="Arial MT"/>
              </a:rPr>
              <a:t> </a:t>
            </a:r>
            <a:r>
              <a:rPr dirty="0" sz="2900" spc="-95">
                <a:latin typeface="Arial MT"/>
                <a:cs typeface="Arial MT"/>
              </a:rPr>
              <a:t>de</a:t>
            </a:r>
            <a:r>
              <a:rPr dirty="0" sz="2900" spc="-105">
                <a:latin typeface="Arial MT"/>
                <a:cs typeface="Arial MT"/>
              </a:rPr>
              <a:t> </a:t>
            </a:r>
            <a:r>
              <a:rPr dirty="0" sz="2900" spc="-10">
                <a:latin typeface="Arial MT"/>
                <a:cs typeface="Arial MT"/>
              </a:rPr>
              <a:t>Wolfgang </a:t>
            </a:r>
            <a:r>
              <a:rPr dirty="0" sz="2950" spc="-160">
                <a:latin typeface="Arial MT"/>
                <a:cs typeface="Arial MT"/>
              </a:rPr>
              <a:t>Schadner</a:t>
            </a:r>
            <a:r>
              <a:rPr dirty="0" sz="2950" spc="-35">
                <a:latin typeface="Arial MT"/>
                <a:cs typeface="Arial MT"/>
              </a:rPr>
              <a:t> </a:t>
            </a:r>
            <a:r>
              <a:rPr dirty="0" sz="2950" spc="-85">
                <a:latin typeface="Arial MT"/>
                <a:cs typeface="Arial MT"/>
              </a:rPr>
              <a:t>(2023)</a:t>
            </a:r>
            <a:r>
              <a:rPr dirty="0" sz="2950" spc="-90">
                <a:latin typeface="Arial MT"/>
                <a:cs typeface="Arial MT"/>
              </a:rPr>
              <a:t> </a:t>
            </a:r>
            <a:r>
              <a:rPr dirty="0" sz="2950" spc="-105">
                <a:latin typeface="Arial MT"/>
                <a:cs typeface="Arial MT"/>
              </a:rPr>
              <a:t>radica</a:t>
            </a:r>
            <a:r>
              <a:rPr dirty="0" sz="2950" spc="-75">
                <a:latin typeface="Arial MT"/>
                <a:cs typeface="Arial MT"/>
              </a:rPr>
              <a:t> </a:t>
            </a:r>
            <a:r>
              <a:rPr dirty="0" sz="2950" spc="-25">
                <a:latin typeface="Arial MT"/>
                <a:cs typeface="Arial MT"/>
              </a:rPr>
              <a:t>en </a:t>
            </a:r>
            <a:r>
              <a:rPr dirty="0" sz="3050" spc="-100">
                <a:latin typeface="Arial MT"/>
                <a:cs typeface="Arial MT"/>
              </a:rPr>
              <a:t>identificar</a:t>
            </a:r>
            <a:r>
              <a:rPr dirty="0" sz="3050" spc="-120">
                <a:latin typeface="Arial MT"/>
                <a:cs typeface="Arial MT"/>
              </a:rPr>
              <a:t> </a:t>
            </a:r>
            <a:r>
              <a:rPr dirty="0" sz="3050" spc="-229">
                <a:latin typeface="Arial MT"/>
                <a:cs typeface="Arial MT"/>
              </a:rPr>
              <a:t>que</a:t>
            </a:r>
            <a:r>
              <a:rPr dirty="0" sz="3050" spc="-125">
                <a:latin typeface="Arial MT"/>
                <a:cs typeface="Arial MT"/>
              </a:rPr>
              <a:t> </a:t>
            </a:r>
            <a:r>
              <a:rPr dirty="0" sz="3050" spc="-114">
                <a:latin typeface="Arial MT"/>
                <a:cs typeface="Arial MT"/>
              </a:rPr>
              <a:t>la </a:t>
            </a:r>
            <a:r>
              <a:rPr dirty="0" sz="3050" spc="-170">
                <a:latin typeface="Arial MT"/>
                <a:cs typeface="Arial MT"/>
              </a:rPr>
              <a:t>geometría</a:t>
            </a:r>
            <a:r>
              <a:rPr dirty="0" sz="3050" spc="95">
                <a:latin typeface="Arial MT"/>
                <a:cs typeface="Arial MT"/>
              </a:rPr>
              <a:t> </a:t>
            </a:r>
            <a:r>
              <a:rPr dirty="0" sz="3050" spc="-260">
                <a:latin typeface="Arial MT"/>
                <a:cs typeface="Arial MT"/>
              </a:rPr>
              <a:t>de</a:t>
            </a:r>
            <a:r>
              <a:rPr dirty="0" sz="3050" spc="-65">
                <a:latin typeface="Arial MT"/>
                <a:cs typeface="Arial MT"/>
              </a:rPr>
              <a:t> </a:t>
            </a:r>
            <a:r>
              <a:rPr dirty="0" sz="3050" spc="-95">
                <a:latin typeface="Arial MT"/>
                <a:cs typeface="Arial MT"/>
              </a:rPr>
              <a:t>la </a:t>
            </a:r>
            <a:r>
              <a:rPr dirty="0" sz="3100" spc="-155">
                <a:latin typeface="Arial MT"/>
                <a:cs typeface="Arial MT"/>
              </a:rPr>
              <a:t>función</a:t>
            </a:r>
            <a:r>
              <a:rPr dirty="0" sz="3100" spc="-120">
                <a:latin typeface="Arial MT"/>
                <a:cs typeface="Arial MT"/>
              </a:rPr>
              <a:t> </a:t>
            </a:r>
            <a:r>
              <a:rPr dirty="0" sz="3100" spc="-340">
                <a:latin typeface="Arial MT"/>
                <a:cs typeface="Arial MT"/>
              </a:rPr>
              <a:t>SVI</a:t>
            </a:r>
            <a:r>
              <a:rPr dirty="0" sz="3100" spc="-40">
                <a:latin typeface="Arial MT"/>
                <a:cs typeface="Arial MT"/>
              </a:rPr>
              <a:t> </a:t>
            </a:r>
            <a:r>
              <a:rPr dirty="0" sz="3100" spc="-235">
                <a:latin typeface="Arial MT"/>
                <a:cs typeface="Arial MT"/>
              </a:rPr>
              <a:t>es</a:t>
            </a:r>
            <a:r>
              <a:rPr dirty="0" sz="3100" spc="-165">
                <a:latin typeface="Arial MT"/>
                <a:cs typeface="Arial MT"/>
              </a:rPr>
              <a:t> </a:t>
            </a:r>
            <a:r>
              <a:rPr dirty="0" sz="3100" spc="-250">
                <a:latin typeface="Arial MT"/>
                <a:cs typeface="Arial MT"/>
              </a:rPr>
              <a:t>una</a:t>
            </a:r>
            <a:r>
              <a:rPr dirty="0" sz="3100" spc="-135">
                <a:latin typeface="Arial MT"/>
                <a:cs typeface="Arial MT"/>
              </a:rPr>
              <a:t> </a:t>
            </a:r>
            <a:r>
              <a:rPr dirty="0" sz="3100" spc="-40">
                <a:latin typeface="Arial MT"/>
                <a:cs typeface="Arial MT"/>
              </a:rPr>
              <a:t>hipérbola.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367695" y="4119033"/>
            <a:ext cx="5523865" cy="131191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algn="just" marL="12700" marR="5080" indent="-635">
              <a:lnSpc>
                <a:spcPts val="3300"/>
              </a:lnSpc>
              <a:spcBef>
                <a:spcPts val="375"/>
              </a:spcBef>
            </a:pPr>
            <a:r>
              <a:rPr dirty="0" sz="2900" spc="-175">
                <a:latin typeface="Arial MT"/>
                <a:cs typeface="Arial MT"/>
              </a:rPr>
              <a:t>Elevando</a:t>
            </a:r>
            <a:r>
              <a:rPr dirty="0" sz="2900" spc="195">
                <a:latin typeface="Arial MT"/>
                <a:cs typeface="Arial MT"/>
              </a:rPr>
              <a:t> </a:t>
            </a:r>
            <a:r>
              <a:rPr dirty="0" sz="2900" spc="-120">
                <a:latin typeface="Arial MT"/>
                <a:cs typeface="Arial MT"/>
              </a:rPr>
              <a:t>al</a:t>
            </a:r>
            <a:r>
              <a:rPr dirty="0" sz="2900" spc="-60">
                <a:latin typeface="Arial MT"/>
                <a:cs typeface="Arial MT"/>
              </a:rPr>
              <a:t> </a:t>
            </a:r>
            <a:r>
              <a:rPr dirty="0" sz="2900" spc="-114">
                <a:latin typeface="Arial MT"/>
                <a:cs typeface="Arial MT"/>
              </a:rPr>
              <a:t>cuadrado</a:t>
            </a:r>
            <a:r>
              <a:rPr dirty="0" sz="2900" spc="90">
                <a:latin typeface="Arial MT"/>
                <a:cs typeface="Arial MT"/>
              </a:rPr>
              <a:t> </a:t>
            </a:r>
            <a:r>
              <a:rPr dirty="0" sz="2900" spc="-120">
                <a:latin typeface="Arial MT"/>
                <a:cs typeface="Arial MT"/>
              </a:rPr>
              <a:t>el</a:t>
            </a:r>
            <a:r>
              <a:rPr dirty="0" sz="2900" spc="-95">
                <a:latin typeface="Arial MT"/>
                <a:cs typeface="Arial MT"/>
              </a:rPr>
              <a:t> </a:t>
            </a:r>
            <a:r>
              <a:rPr dirty="0" sz="2900" spc="-75">
                <a:latin typeface="Arial MT"/>
                <a:cs typeface="Arial MT"/>
              </a:rPr>
              <a:t>término</a:t>
            </a:r>
            <a:r>
              <a:rPr dirty="0" sz="2900" spc="105">
                <a:latin typeface="Arial MT"/>
                <a:cs typeface="Arial MT"/>
              </a:rPr>
              <a:t> </a:t>
            </a:r>
            <a:r>
              <a:rPr dirty="0" sz="2900" spc="-155">
                <a:latin typeface="Arial MT"/>
                <a:cs typeface="Arial MT"/>
              </a:rPr>
              <a:t>de</a:t>
            </a:r>
            <a:r>
              <a:rPr dirty="0" sz="2900" spc="-80">
                <a:latin typeface="Arial MT"/>
                <a:cs typeface="Arial MT"/>
              </a:rPr>
              <a:t> </a:t>
            </a:r>
            <a:r>
              <a:rPr dirty="0" sz="3100" spc="-200">
                <a:latin typeface="Arial MT"/>
                <a:cs typeface="Arial MT"/>
              </a:rPr>
              <a:t>la</a:t>
            </a:r>
            <a:r>
              <a:rPr dirty="0" sz="3100" spc="-110">
                <a:latin typeface="Arial MT"/>
                <a:cs typeface="Arial MT"/>
              </a:rPr>
              <a:t> </a:t>
            </a:r>
            <a:r>
              <a:rPr dirty="0" sz="3100" spc="-220">
                <a:latin typeface="Arial MT"/>
                <a:cs typeface="Arial MT"/>
              </a:rPr>
              <a:t>raíz</a:t>
            </a:r>
            <a:r>
              <a:rPr dirty="0" sz="3100" spc="-35">
                <a:latin typeface="Arial MT"/>
                <a:cs typeface="Arial MT"/>
              </a:rPr>
              <a:t> </a:t>
            </a:r>
            <a:r>
              <a:rPr dirty="0" sz="3100" spc="-330">
                <a:latin typeface="Arial MT"/>
                <a:cs typeface="Arial MT"/>
              </a:rPr>
              <a:t>y</a:t>
            </a:r>
            <a:r>
              <a:rPr dirty="0" sz="3100" spc="-150">
                <a:latin typeface="Arial MT"/>
                <a:cs typeface="Arial MT"/>
              </a:rPr>
              <a:t> </a:t>
            </a:r>
            <a:r>
              <a:rPr dirty="0" sz="3100" spc="-240">
                <a:latin typeface="Arial MT"/>
                <a:cs typeface="Arial MT"/>
              </a:rPr>
              <a:t>reordenando,</a:t>
            </a:r>
            <a:r>
              <a:rPr dirty="0" sz="3100" spc="155">
                <a:latin typeface="Arial MT"/>
                <a:cs typeface="Arial MT"/>
              </a:rPr>
              <a:t> </a:t>
            </a:r>
            <a:r>
              <a:rPr dirty="0" sz="3100" spc="-225">
                <a:latin typeface="Arial MT"/>
                <a:cs typeface="Arial MT"/>
              </a:rPr>
              <a:t>obtenemos</a:t>
            </a:r>
            <a:r>
              <a:rPr dirty="0" sz="3100" spc="90">
                <a:latin typeface="Arial MT"/>
                <a:cs typeface="Arial MT"/>
              </a:rPr>
              <a:t> </a:t>
            </a:r>
            <a:r>
              <a:rPr dirty="0" sz="3100" spc="-140">
                <a:latin typeface="Arial MT"/>
                <a:cs typeface="Arial MT"/>
              </a:rPr>
              <a:t>la</a:t>
            </a:r>
            <a:r>
              <a:rPr dirty="0" sz="3100" spc="-100">
                <a:latin typeface="Arial MT"/>
                <a:cs typeface="Arial MT"/>
              </a:rPr>
              <a:t> </a:t>
            </a:r>
            <a:r>
              <a:rPr dirty="0" sz="3050" spc="-130">
                <a:latin typeface="Arial MT"/>
                <a:cs typeface="Arial MT"/>
              </a:rPr>
              <a:t>forma</a:t>
            </a:r>
            <a:r>
              <a:rPr dirty="0" sz="3050" spc="-5">
                <a:latin typeface="Arial MT"/>
                <a:cs typeface="Arial MT"/>
              </a:rPr>
              <a:t> </a:t>
            </a:r>
            <a:r>
              <a:rPr dirty="0" sz="3050" spc="-210">
                <a:latin typeface="Arial MT"/>
                <a:cs typeface="Arial MT"/>
              </a:rPr>
              <a:t>general</a:t>
            </a:r>
            <a:r>
              <a:rPr dirty="0" sz="3050" spc="80">
                <a:latin typeface="Arial MT"/>
                <a:cs typeface="Arial MT"/>
              </a:rPr>
              <a:t> </a:t>
            </a:r>
            <a:r>
              <a:rPr dirty="0" sz="3050" spc="-260">
                <a:latin typeface="Arial MT"/>
                <a:cs typeface="Arial MT"/>
              </a:rPr>
              <a:t>de</a:t>
            </a:r>
            <a:r>
              <a:rPr dirty="0" sz="3050" spc="-165">
                <a:latin typeface="Arial MT"/>
                <a:cs typeface="Arial MT"/>
              </a:rPr>
              <a:t> </a:t>
            </a:r>
            <a:r>
              <a:rPr dirty="0" sz="3050" spc="-225">
                <a:latin typeface="Arial MT"/>
                <a:cs typeface="Arial MT"/>
              </a:rPr>
              <a:t>una</a:t>
            </a:r>
            <a:r>
              <a:rPr dirty="0" sz="3050" spc="-60">
                <a:latin typeface="Arial MT"/>
                <a:cs typeface="Arial MT"/>
              </a:rPr>
              <a:t> </a:t>
            </a:r>
            <a:r>
              <a:rPr dirty="0" sz="3050" spc="-160">
                <a:latin typeface="Arial MT"/>
                <a:cs typeface="Arial MT"/>
              </a:rPr>
              <a:t>cónica.</a:t>
            </a:r>
            <a:endParaRPr sz="305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212725" y="8370358"/>
            <a:ext cx="866140" cy="565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3550" spc="-30">
                <a:latin typeface="Cambria"/>
                <a:cs typeface="Cambria"/>
              </a:rPr>
              <a:t>vl</a:t>
            </a:r>
            <a:r>
              <a:rPr dirty="0" sz="3550" spc="-275">
                <a:latin typeface="Cambria"/>
                <a:cs typeface="Cambria"/>
              </a:rPr>
              <a:t> </a:t>
            </a:r>
            <a:r>
              <a:rPr dirty="0" sz="3550" spc="-335">
                <a:latin typeface="Cambria"/>
                <a:cs typeface="Cambria"/>
              </a:rPr>
              <a:t>¥</a:t>
            </a:r>
            <a:r>
              <a:rPr dirty="0" baseline="30501" sz="3825" spc="-502">
                <a:latin typeface="Cambria"/>
                <a:cs typeface="Cambria"/>
              </a:rPr>
              <a:t>2</a:t>
            </a:r>
            <a:endParaRPr baseline="30501" sz="3825">
              <a:latin typeface="Cambria"/>
              <a:cs typeface="Cambri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3496925" y="3687233"/>
            <a:ext cx="2313305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-114">
                <a:latin typeface="Arial MT"/>
                <a:cs typeface="Arial MT"/>
              </a:rPr>
              <a:t>Plano</a:t>
            </a:r>
            <a:r>
              <a:rPr dirty="0" sz="2900" spc="-75">
                <a:latin typeface="Arial MT"/>
                <a:cs typeface="Arial MT"/>
              </a:rPr>
              <a:t> </a:t>
            </a:r>
            <a:r>
              <a:rPr dirty="0" sz="2900" spc="-105">
                <a:latin typeface="Arial MT"/>
                <a:cs typeface="Arial MT"/>
              </a:rPr>
              <a:t>de </a:t>
            </a:r>
            <a:r>
              <a:rPr dirty="0" sz="2900" spc="-70">
                <a:latin typeface="Arial MT"/>
                <a:cs typeface="Arial MT"/>
              </a:rPr>
              <a:t>Corte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3887425" y="5654675"/>
            <a:ext cx="1503045" cy="501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100" spc="-185">
                <a:latin typeface="Arial MT"/>
                <a:cs typeface="Arial MT"/>
              </a:rPr>
              <a:t>Hipérbola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5920822" y="8330141"/>
            <a:ext cx="465455" cy="628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950" spc="-290">
                <a:latin typeface="Calibri"/>
                <a:cs typeface="Calibri"/>
              </a:rPr>
              <a:t>0+</a:t>
            </a:r>
            <a:endParaRPr sz="3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5600" y="4292600"/>
            <a:ext cx="6057900" cy="28575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77400" y="5524500"/>
            <a:ext cx="3962400" cy="5334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881100" y="4787900"/>
            <a:ext cx="1981200" cy="16383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64954" y="564444"/>
            <a:ext cx="12294870" cy="8724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50"/>
              <a:t>Convergencia</a:t>
            </a:r>
            <a:r>
              <a:rPr dirty="0" sz="5550" spc="-335"/>
              <a:t> </a:t>
            </a:r>
            <a:r>
              <a:rPr dirty="0" sz="5550" spc="-10"/>
              <a:t>Global</a:t>
            </a:r>
            <a:r>
              <a:rPr dirty="0" sz="5550" spc="-420"/>
              <a:t> </a:t>
            </a:r>
            <a:r>
              <a:rPr dirty="0" sz="5550"/>
              <a:t>Instantánea</a:t>
            </a:r>
            <a:r>
              <a:rPr dirty="0" sz="5550" spc="-160"/>
              <a:t> </a:t>
            </a:r>
            <a:r>
              <a:rPr dirty="0" sz="5550" spc="-290"/>
              <a:t>(OLS)</a:t>
            </a:r>
            <a:endParaRPr sz="5550"/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5875">
              <a:lnSpc>
                <a:spcPts val="1555"/>
              </a:lnSpc>
            </a:pPr>
            <a:r>
              <a:rPr dirty="0" sz="1300">
                <a:latin typeface="Arial MT"/>
                <a:cs typeface="Arial MT"/>
              </a:rPr>
              <a:t>W</a:t>
            </a:r>
            <a:r>
              <a:rPr dirty="0" sz="1300" spc="32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NotebaokLM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80726" y="1864077"/>
            <a:ext cx="15238730" cy="207263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9685">
              <a:lnSpc>
                <a:spcPts val="4045"/>
              </a:lnSpc>
              <a:spcBef>
                <a:spcPts val="120"/>
              </a:spcBef>
              <a:tabLst>
                <a:tab pos="3564890" algn="l"/>
              </a:tabLst>
            </a:pPr>
            <a:r>
              <a:rPr dirty="0" sz="3450" spc="-190">
                <a:latin typeface="Arial MT"/>
                <a:cs typeface="Arial MT"/>
              </a:rPr>
              <a:t>AI</a:t>
            </a:r>
            <a:r>
              <a:rPr dirty="0" sz="3450" spc="-210">
                <a:latin typeface="Arial MT"/>
                <a:cs typeface="Arial MT"/>
              </a:rPr>
              <a:t> </a:t>
            </a:r>
            <a:r>
              <a:rPr dirty="0" sz="3450" spc="-60">
                <a:latin typeface="Arial MT"/>
                <a:cs typeface="Arial MT"/>
              </a:rPr>
              <a:t>normalizar</a:t>
            </a:r>
            <a:r>
              <a:rPr dirty="0" sz="3450" spc="-125">
                <a:latin typeface="Arial MT"/>
                <a:cs typeface="Arial MT"/>
              </a:rPr>
              <a:t> </a:t>
            </a:r>
            <a:r>
              <a:rPr dirty="0" sz="3450" spc="-20">
                <a:latin typeface="Arial MT"/>
                <a:cs typeface="Arial MT"/>
              </a:rPr>
              <a:t>C’</a:t>
            </a:r>
            <a:r>
              <a:rPr dirty="0" sz="3450" spc="-185">
                <a:latin typeface="Arial MT"/>
                <a:cs typeface="Arial MT"/>
              </a:rPr>
              <a:t> </a:t>
            </a:r>
            <a:r>
              <a:rPr dirty="0" sz="3450" spc="-50">
                <a:latin typeface="Arial MT"/>
                <a:cs typeface="Arial MT"/>
              </a:rPr>
              <a:t>=</a:t>
            </a:r>
            <a:r>
              <a:rPr dirty="0" sz="3450">
                <a:latin typeface="Arial MT"/>
                <a:cs typeface="Arial MT"/>
              </a:rPr>
              <a:t>	</a:t>
            </a:r>
            <a:r>
              <a:rPr dirty="0" sz="3450" spc="-40">
                <a:latin typeface="Arial MT"/>
                <a:cs typeface="Arial MT"/>
              </a:rPr>
              <a:t>1,</a:t>
            </a:r>
            <a:r>
              <a:rPr dirty="0" sz="3450" spc="-254">
                <a:latin typeface="Arial MT"/>
                <a:cs typeface="Arial MT"/>
              </a:rPr>
              <a:t> </a:t>
            </a:r>
            <a:r>
              <a:rPr dirty="0" sz="3450" spc="-114">
                <a:latin typeface="Arial MT"/>
                <a:cs typeface="Arial MT"/>
              </a:rPr>
              <a:t>el</a:t>
            </a:r>
            <a:r>
              <a:rPr dirty="0" sz="3450" spc="-150">
                <a:latin typeface="Arial MT"/>
                <a:cs typeface="Arial MT"/>
              </a:rPr>
              <a:t> </a:t>
            </a:r>
            <a:r>
              <a:rPr dirty="0" sz="3450" spc="-80">
                <a:latin typeface="Arial MT"/>
                <a:cs typeface="Arial MT"/>
              </a:rPr>
              <a:t>problema</a:t>
            </a:r>
            <a:r>
              <a:rPr dirty="0" sz="3450" spc="-165">
                <a:latin typeface="Arial MT"/>
                <a:cs typeface="Arial MT"/>
              </a:rPr>
              <a:t> de</a:t>
            </a:r>
            <a:r>
              <a:rPr dirty="0" sz="3450" spc="-110">
                <a:latin typeface="Arial MT"/>
                <a:cs typeface="Arial MT"/>
              </a:rPr>
              <a:t> </a:t>
            </a:r>
            <a:r>
              <a:rPr dirty="0" sz="3450" spc="-40">
                <a:latin typeface="Arial MT"/>
                <a:cs typeface="Arial MT"/>
              </a:rPr>
              <a:t>optimización</a:t>
            </a:r>
            <a:r>
              <a:rPr dirty="0" sz="3450" spc="-125">
                <a:latin typeface="Arial MT"/>
                <a:cs typeface="Arial MT"/>
              </a:rPr>
              <a:t> </a:t>
            </a:r>
            <a:r>
              <a:rPr dirty="0" sz="3450" spc="-210">
                <a:latin typeface="Arial MT"/>
                <a:cs typeface="Arial MT"/>
              </a:rPr>
              <a:t>se</a:t>
            </a:r>
            <a:r>
              <a:rPr dirty="0" sz="3450" spc="-180">
                <a:latin typeface="Arial MT"/>
                <a:cs typeface="Arial MT"/>
              </a:rPr>
              <a:t> </a:t>
            </a:r>
            <a:r>
              <a:rPr dirty="0" sz="3450" spc="-35">
                <a:latin typeface="Arial MT"/>
                <a:cs typeface="Arial MT"/>
              </a:rPr>
              <a:t>transforma</a:t>
            </a:r>
            <a:r>
              <a:rPr dirty="0" sz="3450" spc="-60">
                <a:latin typeface="Arial MT"/>
                <a:cs typeface="Arial MT"/>
              </a:rPr>
              <a:t> </a:t>
            </a:r>
            <a:r>
              <a:rPr dirty="0" sz="3450" spc="-200">
                <a:latin typeface="Arial MT"/>
                <a:cs typeface="Arial MT"/>
              </a:rPr>
              <a:t>en</a:t>
            </a:r>
            <a:r>
              <a:rPr dirty="0" sz="3450" spc="-130">
                <a:latin typeface="Arial MT"/>
                <a:cs typeface="Arial MT"/>
              </a:rPr>
              <a:t> </a:t>
            </a:r>
            <a:r>
              <a:rPr dirty="0" sz="3450" spc="-80">
                <a:latin typeface="Arial MT"/>
                <a:cs typeface="Arial MT"/>
              </a:rPr>
              <a:t>un</a:t>
            </a:r>
            <a:r>
              <a:rPr dirty="0" sz="3450" spc="-160">
                <a:latin typeface="Arial MT"/>
                <a:cs typeface="Arial MT"/>
              </a:rPr>
              <a:t> </a:t>
            </a:r>
            <a:r>
              <a:rPr dirty="0" sz="3450" spc="-40">
                <a:latin typeface="Arial MT"/>
                <a:cs typeface="Arial MT"/>
              </a:rPr>
              <a:t>sistema</a:t>
            </a:r>
            <a:r>
              <a:rPr dirty="0" sz="3450" spc="20">
                <a:latin typeface="Arial MT"/>
                <a:cs typeface="Arial MT"/>
              </a:rPr>
              <a:t> </a:t>
            </a:r>
            <a:r>
              <a:rPr dirty="0" sz="3450" spc="-25">
                <a:latin typeface="Arial MT"/>
                <a:cs typeface="Arial MT"/>
              </a:rPr>
              <a:t>de</a:t>
            </a:r>
            <a:endParaRPr sz="3450">
              <a:latin typeface="Arial MT"/>
              <a:cs typeface="Arial MT"/>
            </a:endParaRPr>
          </a:p>
          <a:p>
            <a:pPr marL="12700">
              <a:lnSpc>
                <a:spcPts val="3985"/>
              </a:lnSpc>
            </a:pPr>
            <a:r>
              <a:rPr dirty="0" sz="3400">
                <a:latin typeface="Arial MT"/>
                <a:cs typeface="Arial MT"/>
              </a:rPr>
              <a:t>Mínimos</a:t>
            </a:r>
            <a:r>
              <a:rPr dirty="0" sz="3400" spc="-100">
                <a:latin typeface="Arial MT"/>
                <a:cs typeface="Arial MT"/>
              </a:rPr>
              <a:t> </a:t>
            </a:r>
            <a:r>
              <a:rPr dirty="0" sz="3400" spc="-70">
                <a:latin typeface="Arial MT"/>
                <a:cs typeface="Arial MT"/>
              </a:rPr>
              <a:t>Cuadrados</a:t>
            </a:r>
            <a:r>
              <a:rPr dirty="0" sz="3400" spc="-130">
                <a:latin typeface="Arial MT"/>
                <a:cs typeface="Arial MT"/>
              </a:rPr>
              <a:t> </a:t>
            </a:r>
            <a:r>
              <a:rPr dirty="0" sz="3400" spc="-20">
                <a:latin typeface="Arial MT"/>
                <a:cs typeface="Arial MT"/>
              </a:rPr>
              <a:t>Ordinarios</a:t>
            </a:r>
            <a:r>
              <a:rPr dirty="0" sz="3400" spc="-95">
                <a:latin typeface="Arial MT"/>
                <a:cs typeface="Arial MT"/>
              </a:rPr>
              <a:t> </a:t>
            </a:r>
            <a:r>
              <a:rPr dirty="0" sz="3400" spc="-165">
                <a:latin typeface="Arial MT"/>
                <a:cs typeface="Arial MT"/>
              </a:rPr>
              <a:t>(OLS)</a:t>
            </a:r>
            <a:r>
              <a:rPr dirty="0" sz="3400" spc="-70">
                <a:latin typeface="Arial MT"/>
                <a:cs typeface="Arial MT"/>
              </a:rPr>
              <a:t> </a:t>
            </a:r>
            <a:r>
              <a:rPr dirty="0" sz="3400" spc="-10">
                <a:latin typeface="Arial MT"/>
                <a:cs typeface="Arial MT"/>
              </a:rPr>
              <a:t>lineal.</a:t>
            </a:r>
            <a:endParaRPr sz="3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400">
              <a:latin typeface="Arial MT"/>
              <a:cs typeface="Arial MT"/>
            </a:endParaRPr>
          </a:p>
          <a:p>
            <a:pPr marL="1053465">
              <a:lnSpc>
                <a:spcPct val="100000"/>
              </a:lnSpc>
              <a:tabLst>
                <a:tab pos="9559925" algn="l"/>
              </a:tabLst>
            </a:pPr>
            <a:r>
              <a:rPr dirty="0" sz="3450" spc="-20">
                <a:latin typeface="Arial MT"/>
                <a:cs typeface="Arial MT"/>
              </a:rPr>
              <a:t>Solver</a:t>
            </a:r>
            <a:r>
              <a:rPr dirty="0" sz="3450" spc="-215">
                <a:latin typeface="Arial MT"/>
                <a:cs typeface="Arial MT"/>
              </a:rPr>
              <a:t> </a:t>
            </a:r>
            <a:r>
              <a:rPr dirty="0" sz="3450">
                <a:latin typeface="Arial MT"/>
                <a:cs typeface="Arial MT"/>
              </a:rPr>
              <a:t>Tradicional</a:t>
            </a:r>
            <a:r>
              <a:rPr dirty="0" sz="3450" spc="-100">
                <a:latin typeface="Arial MT"/>
                <a:cs typeface="Arial MT"/>
              </a:rPr>
              <a:t> </a:t>
            </a:r>
            <a:r>
              <a:rPr dirty="0" sz="3450">
                <a:latin typeface="Arial MT"/>
                <a:cs typeface="Arial MT"/>
              </a:rPr>
              <a:t>(No</a:t>
            </a:r>
            <a:r>
              <a:rPr dirty="0" sz="3450" spc="-210">
                <a:latin typeface="Arial MT"/>
                <a:cs typeface="Arial MT"/>
              </a:rPr>
              <a:t> </a:t>
            </a:r>
            <a:r>
              <a:rPr dirty="0" sz="3450" spc="-10">
                <a:latin typeface="Arial MT"/>
                <a:cs typeface="Arial MT"/>
              </a:rPr>
              <a:t>Lineal)</a:t>
            </a:r>
            <a:r>
              <a:rPr dirty="0" sz="3450">
                <a:latin typeface="Arial MT"/>
                <a:cs typeface="Arial MT"/>
              </a:rPr>
              <a:t>	</a:t>
            </a:r>
            <a:r>
              <a:rPr dirty="0" sz="3450" spc="-30">
                <a:latin typeface="Arial MT"/>
                <a:cs typeface="Arial MT"/>
              </a:rPr>
              <a:t>Enfoque</a:t>
            </a:r>
            <a:r>
              <a:rPr dirty="0" sz="3450" spc="-215">
                <a:latin typeface="Arial MT"/>
                <a:cs typeface="Arial MT"/>
              </a:rPr>
              <a:t> </a:t>
            </a:r>
            <a:r>
              <a:rPr dirty="0" sz="3450" spc="-30">
                <a:latin typeface="Arial MT"/>
                <a:cs typeface="Arial MT"/>
              </a:rPr>
              <a:t>Schadner</a:t>
            </a:r>
            <a:r>
              <a:rPr dirty="0" sz="3450" spc="-110">
                <a:latin typeface="Arial MT"/>
                <a:cs typeface="Arial MT"/>
              </a:rPr>
              <a:t> </a:t>
            </a:r>
            <a:r>
              <a:rPr dirty="0" sz="3450" spc="-10">
                <a:latin typeface="Arial MT"/>
                <a:cs typeface="Arial MT"/>
              </a:rPr>
              <a:t>(OLS)</a:t>
            </a:r>
            <a:endParaRPr sz="34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68454" y="7454900"/>
            <a:ext cx="6588125" cy="1606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3700" indent="-381000">
              <a:lnSpc>
                <a:spcPts val="4250"/>
              </a:lnSpc>
              <a:spcBef>
                <a:spcPts val="100"/>
              </a:spcBef>
              <a:buChar char="•"/>
              <a:tabLst>
                <a:tab pos="393700" algn="l"/>
              </a:tabLst>
            </a:pPr>
            <a:r>
              <a:rPr dirty="0" sz="3750" spc="-350">
                <a:latin typeface="Arial MT"/>
                <a:cs typeface="Arial MT"/>
              </a:rPr>
              <a:t>Requiere</a:t>
            </a:r>
            <a:r>
              <a:rPr dirty="0" sz="3750" spc="90">
                <a:latin typeface="Arial MT"/>
                <a:cs typeface="Arial MT"/>
              </a:rPr>
              <a:t> </a:t>
            </a:r>
            <a:r>
              <a:rPr dirty="0" sz="3750" spc="-280">
                <a:latin typeface="Arial MT"/>
                <a:cs typeface="Arial MT"/>
              </a:rPr>
              <a:t>valores</a:t>
            </a:r>
            <a:r>
              <a:rPr dirty="0" sz="3750">
                <a:latin typeface="Arial MT"/>
                <a:cs typeface="Arial MT"/>
              </a:rPr>
              <a:t> </a:t>
            </a:r>
            <a:r>
              <a:rPr dirty="0" sz="3750" spc="-195">
                <a:latin typeface="Arial MT"/>
                <a:cs typeface="Arial MT"/>
              </a:rPr>
              <a:t>iniciales</a:t>
            </a:r>
            <a:r>
              <a:rPr dirty="0" sz="3750" spc="-40">
                <a:latin typeface="Arial MT"/>
                <a:cs typeface="Arial MT"/>
              </a:rPr>
              <a:t> </a:t>
            </a:r>
            <a:r>
              <a:rPr dirty="0" sz="3750" spc="-350">
                <a:latin typeface="Arial MT"/>
                <a:cs typeface="Arial MT"/>
              </a:rPr>
              <a:t>(Seeds)</a:t>
            </a:r>
            <a:endParaRPr sz="3750">
              <a:latin typeface="Arial MT"/>
              <a:cs typeface="Arial MT"/>
            </a:endParaRPr>
          </a:p>
          <a:p>
            <a:pPr marL="393700" indent="-381000">
              <a:lnSpc>
                <a:spcPts val="3975"/>
              </a:lnSpc>
              <a:buChar char="•"/>
              <a:tabLst>
                <a:tab pos="393700" algn="l"/>
              </a:tabLst>
            </a:pPr>
            <a:r>
              <a:rPr dirty="0" sz="3750" spc="-355">
                <a:latin typeface="Arial MT"/>
                <a:cs typeface="Arial MT"/>
              </a:rPr>
              <a:t>Riesgo</a:t>
            </a:r>
            <a:r>
              <a:rPr dirty="0" sz="3750" spc="140">
                <a:latin typeface="Arial MT"/>
                <a:cs typeface="Arial MT"/>
              </a:rPr>
              <a:t> </a:t>
            </a:r>
            <a:r>
              <a:rPr dirty="0" sz="3750" spc="-380">
                <a:latin typeface="Arial MT"/>
                <a:cs typeface="Arial MT"/>
              </a:rPr>
              <a:t>de</a:t>
            </a:r>
            <a:r>
              <a:rPr dirty="0" sz="3750" spc="-220">
                <a:latin typeface="Arial MT"/>
                <a:cs typeface="Arial MT"/>
              </a:rPr>
              <a:t> </a:t>
            </a:r>
            <a:r>
              <a:rPr dirty="0" sz="3750" spc="-265">
                <a:latin typeface="Arial MT"/>
                <a:cs typeface="Arial MT"/>
              </a:rPr>
              <a:t>mínimos</a:t>
            </a:r>
            <a:r>
              <a:rPr dirty="0" sz="3750" spc="100">
                <a:latin typeface="Arial MT"/>
                <a:cs typeface="Arial MT"/>
              </a:rPr>
              <a:t> </a:t>
            </a:r>
            <a:r>
              <a:rPr dirty="0" sz="3750" spc="-50">
                <a:latin typeface="Arial MT"/>
                <a:cs typeface="Arial MT"/>
              </a:rPr>
              <a:t>locales</a:t>
            </a:r>
            <a:endParaRPr sz="3750">
              <a:latin typeface="Arial MT"/>
              <a:cs typeface="Arial MT"/>
            </a:endParaRPr>
          </a:p>
          <a:p>
            <a:pPr marL="396240" indent="-383540">
              <a:lnSpc>
                <a:spcPts val="4225"/>
              </a:lnSpc>
              <a:buChar char="•"/>
              <a:tabLst>
                <a:tab pos="396240" algn="l"/>
              </a:tabLst>
            </a:pPr>
            <a:r>
              <a:rPr dirty="0" sz="3750" spc="-290">
                <a:latin typeface="Arial MT"/>
                <a:cs typeface="Arial MT"/>
              </a:rPr>
              <a:t>Lento</a:t>
            </a:r>
            <a:r>
              <a:rPr dirty="0" sz="3750" spc="40">
                <a:latin typeface="Arial MT"/>
                <a:cs typeface="Arial MT"/>
              </a:rPr>
              <a:t> </a:t>
            </a:r>
            <a:r>
              <a:rPr dirty="0" sz="3750" spc="-400">
                <a:latin typeface="Arial MT"/>
                <a:cs typeface="Arial MT"/>
              </a:rPr>
              <a:t>e</a:t>
            </a:r>
            <a:r>
              <a:rPr dirty="0" sz="3750" spc="-254">
                <a:latin typeface="Arial MT"/>
                <a:cs typeface="Arial MT"/>
              </a:rPr>
              <a:t> </a:t>
            </a:r>
            <a:r>
              <a:rPr dirty="0" sz="3750" spc="-270">
                <a:latin typeface="Arial MT"/>
                <a:cs typeface="Arial MT"/>
              </a:rPr>
              <a:t>inestable</a:t>
            </a:r>
            <a:endParaRPr sz="37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678862" y="7481358"/>
            <a:ext cx="6297930" cy="1581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94970" indent="-382270">
              <a:lnSpc>
                <a:spcPts val="4130"/>
              </a:lnSpc>
              <a:spcBef>
                <a:spcPts val="90"/>
              </a:spcBef>
              <a:buChar char="•"/>
              <a:tabLst>
                <a:tab pos="394970" algn="l"/>
              </a:tabLst>
            </a:pPr>
            <a:r>
              <a:rPr dirty="0" sz="3550" spc="-180">
                <a:latin typeface="Arial MT"/>
                <a:cs typeface="Arial MT"/>
              </a:rPr>
              <a:t>Cálculo</a:t>
            </a:r>
            <a:r>
              <a:rPr dirty="0" sz="3550" spc="-50">
                <a:latin typeface="Arial MT"/>
                <a:cs typeface="Arial MT"/>
              </a:rPr>
              <a:t> </a:t>
            </a:r>
            <a:r>
              <a:rPr dirty="0" sz="3550" spc="-70">
                <a:latin typeface="Arial MT"/>
                <a:cs typeface="Arial MT"/>
              </a:rPr>
              <a:t>matricial</a:t>
            </a:r>
            <a:r>
              <a:rPr dirty="0" sz="3550" spc="-100">
                <a:latin typeface="Arial MT"/>
                <a:cs typeface="Arial MT"/>
              </a:rPr>
              <a:t> </a:t>
            </a:r>
            <a:r>
              <a:rPr dirty="0" sz="3550" spc="-10">
                <a:latin typeface="Arial MT"/>
                <a:cs typeface="Arial MT"/>
              </a:rPr>
              <a:t>directo</a:t>
            </a:r>
            <a:endParaRPr sz="3550">
              <a:latin typeface="Arial MT"/>
              <a:cs typeface="Arial MT"/>
            </a:endParaRPr>
          </a:p>
          <a:p>
            <a:pPr marL="384175" indent="-371475">
              <a:lnSpc>
                <a:spcPts val="4000"/>
              </a:lnSpc>
              <a:buChar char="•"/>
              <a:tabLst>
                <a:tab pos="384175" algn="l"/>
              </a:tabLst>
            </a:pPr>
            <a:r>
              <a:rPr dirty="0" sz="3550" spc="-215">
                <a:latin typeface="Arial MT"/>
                <a:cs typeface="Arial MT"/>
              </a:rPr>
              <a:t>Sin</a:t>
            </a:r>
            <a:r>
              <a:rPr dirty="0" sz="3550" spc="-120">
                <a:latin typeface="Arial MT"/>
                <a:cs typeface="Arial MT"/>
              </a:rPr>
              <a:t> </a:t>
            </a:r>
            <a:r>
              <a:rPr dirty="0" sz="3550" spc="-155">
                <a:latin typeface="Arial MT"/>
                <a:cs typeface="Arial MT"/>
              </a:rPr>
              <a:t>necesidad</a:t>
            </a:r>
            <a:r>
              <a:rPr dirty="0" sz="3550" spc="-5">
                <a:latin typeface="Arial MT"/>
                <a:cs typeface="Arial MT"/>
              </a:rPr>
              <a:t> </a:t>
            </a:r>
            <a:r>
              <a:rPr dirty="0" sz="3550" spc="-200">
                <a:latin typeface="Arial MT"/>
                <a:cs typeface="Arial MT"/>
              </a:rPr>
              <a:t>de</a:t>
            </a:r>
            <a:r>
              <a:rPr dirty="0" sz="3550" spc="-165">
                <a:latin typeface="Arial MT"/>
                <a:cs typeface="Arial MT"/>
              </a:rPr>
              <a:t> </a:t>
            </a:r>
            <a:r>
              <a:rPr dirty="0" sz="3550" spc="-10">
                <a:latin typeface="Arial MT"/>
                <a:cs typeface="Arial MT"/>
              </a:rPr>
              <a:t>seeds</a:t>
            </a:r>
            <a:endParaRPr sz="3550">
              <a:latin typeface="Arial MT"/>
              <a:cs typeface="Arial MT"/>
            </a:endParaRPr>
          </a:p>
          <a:p>
            <a:pPr marL="382270" indent="-369570">
              <a:lnSpc>
                <a:spcPts val="4130"/>
              </a:lnSpc>
              <a:buChar char="•"/>
              <a:tabLst>
                <a:tab pos="382270" algn="l"/>
              </a:tabLst>
            </a:pPr>
            <a:r>
              <a:rPr dirty="0" sz="3550" spc="-155">
                <a:latin typeface="Arial MT"/>
                <a:cs typeface="Arial MT"/>
              </a:rPr>
              <a:t>Convergencia</a:t>
            </a:r>
            <a:r>
              <a:rPr dirty="0" sz="3550" spc="30">
                <a:latin typeface="Arial MT"/>
                <a:cs typeface="Arial MT"/>
              </a:rPr>
              <a:t> </a:t>
            </a:r>
            <a:r>
              <a:rPr dirty="0" sz="3550" spc="-70">
                <a:latin typeface="Arial MT"/>
                <a:cs typeface="Arial MT"/>
              </a:rPr>
              <a:t>global</a:t>
            </a:r>
            <a:r>
              <a:rPr dirty="0" sz="3550" spc="-180">
                <a:latin typeface="Arial MT"/>
                <a:cs typeface="Arial MT"/>
              </a:rPr>
              <a:t> </a:t>
            </a:r>
            <a:r>
              <a:rPr dirty="0" sz="3550" spc="-140">
                <a:latin typeface="Arial MT"/>
                <a:cs typeface="Arial MT"/>
              </a:rPr>
              <a:t>asegurada</a:t>
            </a:r>
            <a:endParaRPr sz="3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2800" y="6375400"/>
            <a:ext cx="6604000" cy="22860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02800" y="2794000"/>
            <a:ext cx="6604000" cy="218440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8955279" y="2947717"/>
            <a:ext cx="321310" cy="185928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395"/>
              </a:lnSpc>
            </a:pPr>
            <a:r>
              <a:rPr dirty="0" sz="2050" spc="-120">
                <a:latin typeface="Arial MT"/>
                <a:cs typeface="Arial MT"/>
              </a:rPr>
              <a:t>Total</a:t>
            </a:r>
            <a:r>
              <a:rPr dirty="0" sz="2050">
                <a:latin typeface="Arial MT"/>
                <a:cs typeface="Arial MT"/>
              </a:rPr>
              <a:t> </a:t>
            </a:r>
            <a:r>
              <a:rPr dirty="0" sz="2050" spc="-175">
                <a:latin typeface="Arial MT"/>
                <a:cs typeface="Arial MT"/>
              </a:rPr>
              <a:t>Variance</a:t>
            </a:r>
            <a:r>
              <a:rPr dirty="0" sz="2050" spc="30">
                <a:latin typeface="Arial MT"/>
                <a:cs typeface="Arial MT"/>
              </a:rPr>
              <a:t> </a:t>
            </a:r>
            <a:r>
              <a:rPr dirty="0" sz="2050" spc="-65">
                <a:latin typeface="Arial MT"/>
                <a:cs typeface="Arial MT"/>
              </a:rPr>
              <a:t>(w)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5875">
              <a:lnSpc>
                <a:spcPts val="1555"/>
              </a:lnSpc>
            </a:pPr>
            <a:r>
              <a:rPr dirty="0" sz="1300">
                <a:latin typeface="Arial MT"/>
                <a:cs typeface="Arial MT"/>
              </a:rPr>
              <a:t>W</a:t>
            </a:r>
            <a:r>
              <a:rPr dirty="0" sz="1300" spc="32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NotebaokLM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955279" y="6594607"/>
            <a:ext cx="321310" cy="184467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395"/>
              </a:lnSpc>
            </a:pPr>
            <a:r>
              <a:rPr dirty="0" sz="2050" spc="-95">
                <a:latin typeface="Arial MT"/>
                <a:cs typeface="Arial MT"/>
              </a:rPr>
              <a:t>Tolal</a:t>
            </a:r>
            <a:r>
              <a:rPr dirty="0" sz="2050" spc="-60">
                <a:latin typeface="Arial MT"/>
                <a:cs typeface="Arial MT"/>
              </a:rPr>
              <a:t> </a:t>
            </a:r>
            <a:r>
              <a:rPr dirty="0" sz="2050" spc="-90">
                <a:latin typeface="Arial MT"/>
                <a:cs typeface="Arial MT"/>
              </a:rPr>
              <a:t>Valance</a:t>
            </a:r>
            <a:r>
              <a:rPr dirty="0" sz="2050" spc="-15">
                <a:latin typeface="Arial MT"/>
                <a:cs typeface="Arial MT"/>
              </a:rPr>
              <a:t> </a:t>
            </a:r>
            <a:r>
              <a:rPr dirty="0" sz="2050" spc="-95">
                <a:latin typeface="Arial MT"/>
                <a:cs typeface="Arial MT"/>
              </a:rPr>
              <a:t>(w)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13668" y="552802"/>
            <a:ext cx="13142594" cy="10312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600">
                <a:latin typeface="Calibri"/>
                <a:cs typeface="Calibri"/>
              </a:rPr>
              <a:t>Geometría</a:t>
            </a:r>
            <a:r>
              <a:rPr dirty="0" sz="6600" spc="-260">
                <a:latin typeface="Calibri"/>
                <a:cs typeface="Calibri"/>
              </a:rPr>
              <a:t> </a:t>
            </a:r>
            <a:r>
              <a:rPr dirty="0" sz="6600" spc="75">
                <a:latin typeface="Calibri"/>
                <a:cs typeface="Calibri"/>
              </a:rPr>
              <a:t>dei</a:t>
            </a:r>
            <a:r>
              <a:rPr dirty="0" sz="6600" spc="-204">
                <a:latin typeface="Calibri"/>
                <a:cs typeface="Calibri"/>
              </a:rPr>
              <a:t> </a:t>
            </a:r>
            <a:r>
              <a:rPr dirty="0" sz="6600" spc="-20">
                <a:latin typeface="Calibri"/>
                <a:cs typeface="Calibri"/>
              </a:rPr>
              <a:t>Arbitraje</a:t>
            </a:r>
            <a:r>
              <a:rPr dirty="0" sz="6600" spc="35">
                <a:latin typeface="Calibri"/>
                <a:cs typeface="Calibri"/>
              </a:rPr>
              <a:t> </a:t>
            </a:r>
            <a:r>
              <a:rPr dirty="0" sz="6600" spc="265">
                <a:latin typeface="Calibri"/>
                <a:cs typeface="Calibri"/>
              </a:rPr>
              <a:t>de</a:t>
            </a:r>
            <a:r>
              <a:rPr dirty="0" sz="6600" spc="-450">
                <a:latin typeface="Calibri"/>
                <a:cs typeface="Calibri"/>
              </a:rPr>
              <a:t> </a:t>
            </a:r>
            <a:r>
              <a:rPr dirty="0" sz="6600" spc="40">
                <a:latin typeface="Calibri"/>
                <a:cs typeface="Calibri"/>
              </a:rPr>
              <a:t>Calendario</a:t>
            </a:r>
            <a:endParaRPr sz="66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06804" y="1740580"/>
            <a:ext cx="7647940" cy="5594985"/>
          </a:xfrm>
          <a:prstGeom prst="rect">
            <a:avLst/>
          </a:prstGeom>
        </p:spPr>
        <p:txBody>
          <a:bodyPr wrap="square" lIns="0" tIns="240665" rIns="0" bIns="0" rtlCol="0" vert="horz">
            <a:spAutoFit/>
          </a:bodyPr>
          <a:lstStyle/>
          <a:p>
            <a:pPr marL="45085">
              <a:lnSpc>
                <a:spcPct val="100000"/>
              </a:lnSpc>
              <a:spcBef>
                <a:spcPts val="1895"/>
              </a:spcBef>
            </a:pPr>
            <a:r>
              <a:rPr dirty="0" sz="3750" spc="-225">
                <a:latin typeface="Arial MT"/>
                <a:cs typeface="Arial MT"/>
              </a:rPr>
              <a:t>The</a:t>
            </a:r>
            <a:r>
              <a:rPr dirty="0" sz="3750" spc="-215">
                <a:latin typeface="Arial MT"/>
                <a:cs typeface="Arial MT"/>
              </a:rPr>
              <a:t> </a:t>
            </a:r>
            <a:r>
              <a:rPr dirty="0" sz="3750" spc="-20">
                <a:latin typeface="Arial MT"/>
                <a:cs typeface="Arial MT"/>
              </a:rPr>
              <a:t>Rule</a:t>
            </a:r>
            <a:endParaRPr sz="3750">
              <a:latin typeface="Arial MT"/>
              <a:cs typeface="Arial MT"/>
            </a:endParaRPr>
          </a:p>
          <a:p>
            <a:pPr marL="40640">
              <a:lnSpc>
                <a:spcPts val="4410"/>
              </a:lnSpc>
              <a:spcBef>
                <a:spcPts val="1900"/>
              </a:spcBef>
              <a:tabLst>
                <a:tab pos="632460" algn="l"/>
              </a:tabLst>
            </a:pPr>
            <a:r>
              <a:rPr dirty="0" sz="3850" spc="-25">
                <a:latin typeface="Calibri"/>
                <a:cs typeface="Calibri"/>
              </a:rPr>
              <a:t>La</a:t>
            </a:r>
            <a:r>
              <a:rPr dirty="0" sz="3850">
                <a:latin typeface="Calibri"/>
                <a:cs typeface="Calibri"/>
              </a:rPr>
              <a:t>	</a:t>
            </a:r>
            <a:r>
              <a:rPr dirty="0" sz="3850" spc="-35">
                <a:latin typeface="Calibri"/>
                <a:cs typeface="Calibri"/>
              </a:rPr>
              <a:t>velocidad</a:t>
            </a:r>
            <a:r>
              <a:rPr dirty="0" sz="3850" spc="-25">
                <a:latin typeface="Calibri"/>
                <a:cs typeface="Calibri"/>
              </a:rPr>
              <a:t> </a:t>
            </a:r>
            <a:r>
              <a:rPr dirty="0" sz="3850" spc="80">
                <a:latin typeface="Calibri"/>
                <a:cs typeface="Calibri"/>
              </a:rPr>
              <a:t>es</a:t>
            </a:r>
            <a:r>
              <a:rPr dirty="0" sz="3850" spc="-210">
                <a:latin typeface="Calibri"/>
                <a:cs typeface="Calibri"/>
              </a:rPr>
              <a:t> </a:t>
            </a:r>
            <a:r>
              <a:rPr dirty="0" sz="3850" spc="-75">
                <a:latin typeface="Calibri"/>
                <a:cs typeface="Calibri"/>
              </a:rPr>
              <a:t>inútil</a:t>
            </a:r>
            <a:r>
              <a:rPr dirty="0" sz="3850" spc="-85">
                <a:latin typeface="Calibri"/>
                <a:cs typeface="Calibri"/>
              </a:rPr>
              <a:t> </a:t>
            </a:r>
            <a:r>
              <a:rPr dirty="0" sz="3850">
                <a:latin typeface="Calibri"/>
                <a:cs typeface="Calibri"/>
              </a:rPr>
              <a:t>si</a:t>
            </a:r>
            <a:r>
              <a:rPr dirty="0" sz="3850" spc="130">
                <a:latin typeface="Calibri"/>
                <a:cs typeface="Calibri"/>
              </a:rPr>
              <a:t> </a:t>
            </a:r>
            <a:r>
              <a:rPr dirty="0" sz="3850">
                <a:latin typeface="Calibri"/>
                <a:cs typeface="Calibri"/>
              </a:rPr>
              <a:t>el</a:t>
            </a:r>
            <a:r>
              <a:rPr dirty="0" sz="3850" spc="-220">
                <a:latin typeface="Calibri"/>
                <a:cs typeface="Calibri"/>
              </a:rPr>
              <a:t> </a:t>
            </a:r>
            <a:r>
              <a:rPr dirty="0" sz="3850" spc="-10">
                <a:latin typeface="Calibri"/>
                <a:cs typeface="Calibri"/>
              </a:rPr>
              <a:t>precio</a:t>
            </a:r>
            <a:r>
              <a:rPr dirty="0" sz="3850" spc="-55">
                <a:latin typeface="Calibri"/>
                <a:cs typeface="Calibri"/>
              </a:rPr>
              <a:t> </a:t>
            </a:r>
            <a:r>
              <a:rPr dirty="0" sz="3850" spc="50" i="1">
                <a:latin typeface="Calibri"/>
                <a:cs typeface="Calibri"/>
              </a:rPr>
              <a:t>es</a:t>
            </a:r>
            <a:endParaRPr sz="3850">
              <a:latin typeface="Calibri"/>
              <a:cs typeface="Calibri"/>
            </a:endParaRPr>
          </a:p>
          <a:p>
            <a:pPr marL="49530">
              <a:lnSpc>
                <a:spcPts val="4410"/>
              </a:lnSpc>
            </a:pPr>
            <a:r>
              <a:rPr dirty="0" sz="3850" spc="-10">
                <a:latin typeface="Calibri"/>
                <a:cs typeface="Calibri"/>
              </a:rPr>
              <a:t>incorrecto.</a:t>
            </a:r>
            <a:endParaRPr sz="3850">
              <a:latin typeface="Calibri"/>
              <a:cs typeface="Calibri"/>
            </a:endParaRPr>
          </a:p>
          <a:p>
            <a:pPr marL="38100" marR="30480" indent="8255">
              <a:lnSpc>
                <a:spcPct val="96000"/>
              </a:lnSpc>
              <a:spcBef>
                <a:spcPts val="2950"/>
              </a:spcBef>
            </a:pPr>
            <a:r>
              <a:rPr dirty="0" sz="3600" spc="-190">
                <a:latin typeface="Arial MT"/>
                <a:cs typeface="Arial MT"/>
              </a:rPr>
              <a:t>Para</a:t>
            </a:r>
            <a:r>
              <a:rPr dirty="0" sz="3600" spc="-60">
                <a:latin typeface="Arial MT"/>
                <a:cs typeface="Arial MT"/>
              </a:rPr>
              <a:t> </a:t>
            </a:r>
            <a:r>
              <a:rPr dirty="0" sz="3600" spc="-45">
                <a:latin typeface="Arial MT"/>
                <a:cs typeface="Arial MT"/>
              </a:rPr>
              <a:t>evitar</a:t>
            </a:r>
            <a:r>
              <a:rPr dirty="0" sz="3600" spc="-195">
                <a:latin typeface="Arial MT"/>
                <a:cs typeface="Arial MT"/>
              </a:rPr>
              <a:t> </a:t>
            </a:r>
            <a:r>
              <a:rPr dirty="0" sz="3600" spc="-70">
                <a:latin typeface="Arial MT"/>
                <a:cs typeface="Arial MT"/>
              </a:rPr>
              <a:t>arbitraje,</a:t>
            </a:r>
            <a:r>
              <a:rPr dirty="0" sz="3600" spc="-105">
                <a:latin typeface="Arial MT"/>
                <a:cs typeface="Arial MT"/>
              </a:rPr>
              <a:t> </a:t>
            </a:r>
            <a:r>
              <a:rPr dirty="0" sz="3600" spc="-90">
                <a:latin typeface="Arial MT"/>
                <a:cs typeface="Arial MT"/>
              </a:rPr>
              <a:t>la</a:t>
            </a:r>
            <a:r>
              <a:rPr dirty="0" sz="3600" spc="-160">
                <a:latin typeface="Arial MT"/>
                <a:cs typeface="Arial MT"/>
              </a:rPr>
              <a:t> </a:t>
            </a:r>
            <a:r>
              <a:rPr dirty="0" sz="3600" spc="-155">
                <a:latin typeface="Arial MT"/>
                <a:cs typeface="Arial MT"/>
              </a:rPr>
              <a:t>varianza</a:t>
            </a:r>
            <a:r>
              <a:rPr dirty="0" sz="3600" spc="-25">
                <a:latin typeface="Arial MT"/>
                <a:cs typeface="Arial MT"/>
              </a:rPr>
              <a:t> </a:t>
            </a:r>
            <a:r>
              <a:rPr dirty="0" sz="3600" spc="-20">
                <a:latin typeface="Arial MT"/>
                <a:cs typeface="Arial MT"/>
              </a:rPr>
              <a:t>total</a:t>
            </a:r>
            <a:r>
              <a:rPr dirty="0" sz="3600" spc="-229">
                <a:latin typeface="Arial MT"/>
                <a:cs typeface="Arial MT"/>
              </a:rPr>
              <a:t> </a:t>
            </a:r>
            <a:r>
              <a:rPr dirty="0" sz="3600" spc="-30">
                <a:latin typeface="Arial MT"/>
                <a:cs typeface="Arial MT"/>
              </a:rPr>
              <a:t>de </a:t>
            </a:r>
            <a:r>
              <a:rPr dirty="0" sz="3650" spc="-90">
                <a:latin typeface="Arial MT"/>
                <a:cs typeface="Arial MT"/>
              </a:rPr>
              <a:t>un</a:t>
            </a:r>
            <a:r>
              <a:rPr dirty="0" sz="3650" spc="-210">
                <a:latin typeface="Arial MT"/>
                <a:cs typeface="Arial MT"/>
              </a:rPr>
              <a:t> </a:t>
            </a:r>
            <a:r>
              <a:rPr dirty="0" sz="3650" spc="-95">
                <a:latin typeface="Arial MT"/>
                <a:cs typeface="Arial MT"/>
              </a:rPr>
              <a:t>plazo</a:t>
            </a:r>
            <a:r>
              <a:rPr dirty="0" sz="3650" spc="-160">
                <a:latin typeface="Arial MT"/>
                <a:cs typeface="Arial MT"/>
              </a:rPr>
              <a:t> </a:t>
            </a:r>
            <a:r>
              <a:rPr dirty="0" sz="3650" spc="-90">
                <a:latin typeface="Arial MT"/>
                <a:cs typeface="Arial MT"/>
              </a:rPr>
              <a:t>largo</a:t>
            </a:r>
            <a:r>
              <a:rPr dirty="0" sz="3650" spc="-125">
                <a:latin typeface="Arial MT"/>
                <a:cs typeface="Arial MT"/>
              </a:rPr>
              <a:t> </a:t>
            </a:r>
            <a:r>
              <a:rPr dirty="0" sz="3650" spc="-75">
                <a:latin typeface="Arial MT"/>
                <a:cs typeface="Arial MT"/>
              </a:rPr>
              <a:t>(T</a:t>
            </a:r>
            <a:r>
              <a:rPr dirty="0" baseline="-18181" sz="4125" spc="-112">
                <a:latin typeface="Arial MT"/>
                <a:cs typeface="Arial MT"/>
              </a:rPr>
              <a:t>2</a:t>
            </a:r>
            <a:r>
              <a:rPr dirty="0" sz="3650" spc="-75">
                <a:latin typeface="Arial MT"/>
                <a:cs typeface="Arial MT"/>
              </a:rPr>
              <a:t>)</a:t>
            </a:r>
            <a:r>
              <a:rPr dirty="0" sz="3650" spc="-229">
                <a:latin typeface="Arial MT"/>
                <a:cs typeface="Arial MT"/>
              </a:rPr>
              <a:t> </a:t>
            </a:r>
            <a:r>
              <a:rPr dirty="0" sz="3650" spc="-185">
                <a:latin typeface="Arial MT"/>
                <a:cs typeface="Arial MT"/>
              </a:rPr>
              <a:t>debe</a:t>
            </a:r>
            <a:r>
              <a:rPr dirty="0" sz="3650" spc="-50">
                <a:latin typeface="Arial MT"/>
                <a:cs typeface="Arial MT"/>
              </a:rPr>
              <a:t> </a:t>
            </a:r>
            <a:r>
              <a:rPr dirty="0" sz="3650" spc="-25">
                <a:latin typeface="Arial MT"/>
                <a:cs typeface="Arial MT"/>
              </a:rPr>
              <a:t>ser </a:t>
            </a:r>
            <a:r>
              <a:rPr dirty="0" sz="3650" spc="-75">
                <a:latin typeface="Arial MT"/>
                <a:cs typeface="Arial MT"/>
              </a:rPr>
              <a:t>estrictamente</a:t>
            </a:r>
            <a:r>
              <a:rPr dirty="0" sz="3650" spc="-135">
                <a:latin typeface="Arial MT"/>
                <a:cs typeface="Arial MT"/>
              </a:rPr>
              <a:t> </a:t>
            </a:r>
            <a:r>
              <a:rPr dirty="0" sz="3650" spc="-120">
                <a:latin typeface="Arial MT"/>
                <a:cs typeface="Arial MT"/>
              </a:rPr>
              <a:t>mayor</a:t>
            </a:r>
            <a:r>
              <a:rPr dirty="0" sz="3650" spc="-35">
                <a:latin typeface="Arial MT"/>
                <a:cs typeface="Arial MT"/>
              </a:rPr>
              <a:t> </a:t>
            </a:r>
            <a:r>
              <a:rPr dirty="0" sz="3650" spc="-165">
                <a:latin typeface="Arial MT"/>
                <a:cs typeface="Arial MT"/>
              </a:rPr>
              <a:t>que</a:t>
            </a:r>
            <a:r>
              <a:rPr dirty="0" sz="3650" spc="-90">
                <a:latin typeface="Arial MT"/>
                <a:cs typeface="Arial MT"/>
              </a:rPr>
              <a:t> </a:t>
            </a:r>
            <a:r>
              <a:rPr dirty="0" sz="3650" spc="-125">
                <a:latin typeface="Arial MT"/>
                <a:cs typeface="Arial MT"/>
              </a:rPr>
              <a:t>la</a:t>
            </a:r>
            <a:r>
              <a:rPr dirty="0" sz="3650" spc="-130">
                <a:latin typeface="Arial MT"/>
                <a:cs typeface="Arial MT"/>
              </a:rPr>
              <a:t> </a:t>
            </a:r>
            <a:r>
              <a:rPr dirty="0" sz="3650" spc="-170">
                <a:latin typeface="Arial MT"/>
                <a:cs typeface="Arial MT"/>
              </a:rPr>
              <a:t>de</a:t>
            </a:r>
            <a:r>
              <a:rPr dirty="0" sz="3650" spc="-90">
                <a:latin typeface="Arial MT"/>
                <a:cs typeface="Arial MT"/>
              </a:rPr>
              <a:t> </a:t>
            </a:r>
            <a:r>
              <a:rPr dirty="0" sz="3650" spc="-25">
                <a:latin typeface="Arial MT"/>
                <a:cs typeface="Arial MT"/>
              </a:rPr>
              <a:t>un </a:t>
            </a:r>
            <a:r>
              <a:rPr dirty="0" sz="3750" spc="-165">
                <a:latin typeface="Arial MT"/>
                <a:cs typeface="Arial MT"/>
              </a:rPr>
              <a:t>plazo</a:t>
            </a:r>
            <a:r>
              <a:rPr dirty="0" sz="3750" spc="-95">
                <a:latin typeface="Arial MT"/>
                <a:cs typeface="Arial MT"/>
              </a:rPr>
              <a:t> </a:t>
            </a:r>
            <a:r>
              <a:rPr dirty="0" sz="3750" spc="-60">
                <a:latin typeface="Arial MT"/>
                <a:cs typeface="Arial MT"/>
              </a:rPr>
              <a:t>corto</a:t>
            </a:r>
            <a:r>
              <a:rPr dirty="0" sz="3750" spc="-160">
                <a:latin typeface="Arial MT"/>
                <a:cs typeface="Arial MT"/>
              </a:rPr>
              <a:t> </a:t>
            </a:r>
            <a:r>
              <a:rPr dirty="0" baseline="3703" sz="5625" spc="-15">
                <a:latin typeface="Arial MT"/>
                <a:cs typeface="Arial MT"/>
              </a:rPr>
              <a:t>(</a:t>
            </a:r>
            <a:r>
              <a:rPr dirty="0" baseline="-9629" sz="5625" spc="-15">
                <a:latin typeface="Arial MT"/>
                <a:cs typeface="Arial MT"/>
              </a:rPr>
              <a:t>*1)•</a:t>
            </a:r>
            <a:endParaRPr baseline="-9629" sz="5625">
              <a:latin typeface="Arial MT"/>
              <a:cs typeface="Arial MT"/>
            </a:endParaRPr>
          </a:p>
          <a:p>
            <a:pPr marL="46355">
              <a:lnSpc>
                <a:spcPct val="100000"/>
              </a:lnSpc>
              <a:spcBef>
                <a:spcPts val="2200"/>
              </a:spcBef>
            </a:pPr>
            <a:r>
              <a:rPr dirty="0" sz="4000" spc="-145">
                <a:latin typeface="Calibri"/>
                <a:cs typeface="Calibri"/>
              </a:rPr>
              <a:t>Geométricamente:</a:t>
            </a:r>
            <a:r>
              <a:rPr dirty="0" sz="4000" spc="-80">
                <a:latin typeface="Calibri"/>
                <a:cs typeface="Calibri"/>
              </a:rPr>
              <a:t> </a:t>
            </a:r>
            <a:r>
              <a:rPr dirty="0" sz="4000" spc="80">
                <a:latin typeface="Calibri"/>
                <a:cs typeface="Calibri"/>
              </a:rPr>
              <a:t>Las</a:t>
            </a:r>
            <a:r>
              <a:rPr dirty="0" sz="4000" spc="-110">
                <a:latin typeface="Calibri"/>
                <a:cs typeface="Calibri"/>
              </a:rPr>
              <a:t> </a:t>
            </a:r>
            <a:r>
              <a:rPr dirty="0" sz="4000" spc="-65">
                <a:latin typeface="Calibri"/>
                <a:cs typeface="Calibri"/>
              </a:rPr>
              <a:t>asíntotas</a:t>
            </a:r>
            <a:r>
              <a:rPr dirty="0" sz="4000" spc="120">
                <a:latin typeface="Calibri"/>
                <a:cs typeface="Calibri"/>
              </a:rPr>
              <a:t> </a:t>
            </a:r>
            <a:r>
              <a:rPr dirty="0" sz="4000" spc="-25">
                <a:latin typeface="Calibri"/>
                <a:cs typeface="Calibri"/>
              </a:rPr>
              <a:t>de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72551" y="7222772"/>
            <a:ext cx="5772150" cy="639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13080" algn="l"/>
              </a:tabLst>
            </a:pPr>
            <a:r>
              <a:rPr dirty="0" sz="4000" spc="-50">
                <a:latin typeface="Calibri"/>
                <a:cs typeface="Calibri"/>
              </a:rPr>
              <a:t>T</a:t>
            </a:r>
            <a:r>
              <a:rPr dirty="0" sz="4000">
                <a:latin typeface="Calibri"/>
                <a:cs typeface="Calibri"/>
              </a:rPr>
              <a:t>	</a:t>
            </a:r>
            <a:r>
              <a:rPr dirty="0" sz="4000" spc="-155">
                <a:latin typeface="Calibri"/>
                <a:cs typeface="Calibri"/>
              </a:rPr>
              <a:t>deben</a:t>
            </a:r>
            <a:r>
              <a:rPr dirty="0" sz="4000">
                <a:latin typeface="Calibri"/>
                <a:cs typeface="Calibri"/>
              </a:rPr>
              <a:t> </a:t>
            </a:r>
            <a:r>
              <a:rPr dirty="0" sz="4000" spc="-65">
                <a:latin typeface="Calibri"/>
                <a:cs typeface="Calibri"/>
              </a:rPr>
              <a:t>ser</a:t>
            </a:r>
            <a:r>
              <a:rPr dirty="0" sz="4000" spc="-160">
                <a:latin typeface="Calibri"/>
                <a:cs typeface="Calibri"/>
              </a:rPr>
              <a:t> </a:t>
            </a:r>
            <a:r>
              <a:rPr dirty="0" sz="4000">
                <a:latin typeface="Calibri"/>
                <a:cs typeface="Calibri"/>
              </a:rPr>
              <a:t>más</a:t>
            </a:r>
            <a:r>
              <a:rPr dirty="0" sz="4000" spc="-200">
                <a:latin typeface="Calibri"/>
                <a:cs typeface="Calibri"/>
              </a:rPr>
              <a:t> </a:t>
            </a:r>
            <a:r>
              <a:rPr dirty="0" sz="4000" spc="-165">
                <a:latin typeface="Calibri"/>
                <a:cs typeface="Calibri"/>
              </a:rPr>
              <a:t>“abiertas”</a:t>
            </a:r>
            <a:r>
              <a:rPr dirty="0" sz="4000" spc="-40">
                <a:latin typeface="Calibri"/>
                <a:cs typeface="Calibri"/>
              </a:rPr>
              <a:t> </a:t>
            </a:r>
            <a:r>
              <a:rPr dirty="0" sz="4000" spc="-50">
                <a:latin typeface="Calibri"/>
                <a:cs typeface="Calibri"/>
              </a:rPr>
              <a:t>o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14973" y="7463014"/>
            <a:ext cx="5038725" cy="9264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07340">
              <a:lnSpc>
                <a:spcPts val="2895"/>
              </a:lnSpc>
              <a:spcBef>
                <a:spcPts val="135"/>
              </a:spcBef>
            </a:pPr>
            <a:r>
              <a:rPr dirty="0" sz="2950" spc="-50">
                <a:latin typeface="Calibri"/>
                <a:cs typeface="Calibri"/>
              </a:rPr>
              <a:t>2</a:t>
            </a:r>
            <a:endParaRPr sz="2950">
              <a:latin typeface="Calibri"/>
              <a:cs typeface="Calibri"/>
            </a:endParaRPr>
          </a:p>
          <a:p>
            <a:pPr marL="38100">
              <a:lnSpc>
                <a:spcPts val="4155"/>
              </a:lnSpc>
            </a:pPr>
            <a:r>
              <a:rPr dirty="0" sz="4000" spc="-114">
                <a:latin typeface="Calibri"/>
                <a:cs typeface="Calibri"/>
              </a:rPr>
              <a:t>empinadas</a:t>
            </a:r>
            <a:r>
              <a:rPr dirty="0" sz="4000" spc="-20">
                <a:latin typeface="Calibri"/>
                <a:cs typeface="Calibri"/>
              </a:rPr>
              <a:t> </a:t>
            </a:r>
            <a:r>
              <a:rPr dirty="0" sz="4000" spc="-165">
                <a:latin typeface="Calibri"/>
                <a:cs typeface="Calibri"/>
              </a:rPr>
              <a:t>que</a:t>
            </a:r>
            <a:r>
              <a:rPr dirty="0" sz="4000" spc="-60">
                <a:latin typeface="Calibri"/>
                <a:cs typeface="Calibri"/>
              </a:rPr>
              <a:t> </a:t>
            </a:r>
            <a:r>
              <a:rPr dirty="0" sz="4000">
                <a:latin typeface="Calibri"/>
                <a:cs typeface="Calibri"/>
              </a:rPr>
              <a:t>las</a:t>
            </a:r>
            <a:r>
              <a:rPr dirty="0" sz="4000" spc="-165">
                <a:latin typeface="Calibri"/>
                <a:cs typeface="Calibri"/>
              </a:rPr>
              <a:t> </a:t>
            </a:r>
            <a:r>
              <a:rPr dirty="0" sz="4000">
                <a:latin typeface="Calibri"/>
                <a:cs typeface="Calibri"/>
              </a:rPr>
              <a:t>de</a:t>
            </a:r>
            <a:r>
              <a:rPr dirty="0" sz="4000" spc="45">
                <a:latin typeface="Calibri"/>
                <a:cs typeface="Calibri"/>
              </a:rPr>
              <a:t> </a:t>
            </a:r>
            <a:r>
              <a:rPr dirty="0" sz="4000" spc="-25">
                <a:latin typeface="Calibri"/>
                <a:cs typeface="Calibri"/>
              </a:rPr>
              <a:t>T</a:t>
            </a:r>
            <a:r>
              <a:rPr dirty="0" baseline="-18832" sz="4425" spc="-37">
                <a:latin typeface="Calibri"/>
                <a:cs typeface="Calibri"/>
              </a:rPr>
              <a:t>1</a:t>
            </a:r>
            <a:r>
              <a:rPr dirty="0" sz="4000" spc="-25">
                <a:latin typeface="Calibri"/>
                <a:cs typeface="Calibri"/>
              </a:rPr>
              <a:t>.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018744" y="1983669"/>
            <a:ext cx="2094230" cy="586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650" spc="-125">
                <a:latin typeface="Arial MT"/>
                <a:cs typeface="Arial MT"/>
              </a:rPr>
              <a:t>The</a:t>
            </a:r>
            <a:r>
              <a:rPr dirty="0" sz="3650" spc="-120">
                <a:latin typeface="Arial MT"/>
                <a:cs typeface="Arial MT"/>
              </a:rPr>
              <a:t> </a:t>
            </a:r>
            <a:r>
              <a:rPr dirty="0" sz="3650" spc="-75">
                <a:latin typeface="Arial MT"/>
                <a:cs typeface="Arial MT"/>
              </a:rPr>
              <a:t>Visual</a:t>
            </a:r>
            <a:endParaRPr sz="365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553256" y="5079647"/>
            <a:ext cx="299085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130">
                <a:latin typeface="Consolas"/>
                <a:cs typeface="Consolas"/>
              </a:rPr>
              <a:t>-</a:t>
            </a:r>
            <a:r>
              <a:rPr dirty="0" sz="2150" spc="-50">
                <a:latin typeface="Consolas"/>
                <a:cs typeface="Consolas"/>
              </a:rPr>
              <a:t>3</a:t>
            </a:r>
            <a:endParaRPr sz="2150">
              <a:latin typeface="Consolas"/>
              <a:cs typeface="Consola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650004" y="5102225"/>
            <a:ext cx="1360805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104265" algn="l"/>
              </a:tabLst>
            </a:pPr>
            <a:r>
              <a:rPr dirty="0" sz="1850" spc="95">
                <a:latin typeface="Consolas"/>
                <a:cs typeface="Consolas"/>
              </a:rPr>
              <a:t>-</a:t>
            </a:r>
            <a:r>
              <a:rPr dirty="0" sz="1850" spc="50">
                <a:latin typeface="Consolas"/>
                <a:cs typeface="Consolas"/>
              </a:rPr>
              <a:t>2</a:t>
            </a:r>
            <a:r>
              <a:rPr dirty="0" sz="1850">
                <a:latin typeface="Consolas"/>
                <a:cs typeface="Consolas"/>
              </a:rPr>
              <a:t>	</a:t>
            </a:r>
            <a:r>
              <a:rPr dirty="0" sz="1850" spc="-75">
                <a:latin typeface="Consolas"/>
                <a:cs typeface="Consolas"/>
              </a:rPr>
              <a:t>-</a:t>
            </a:r>
            <a:r>
              <a:rPr dirty="0" sz="1850" spc="-50">
                <a:latin typeface="Consolas"/>
                <a:cs typeface="Consolas"/>
              </a:rPr>
              <a:t>l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323916" y="2728382"/>
            <a:ext cx="7277100" cy="2387600"/>
          </a:xfrm>
          <a:prstGeom prst="rect">
            <a:avLst/>
          </a:prstGeom>
          <a:ln w="12700">
            <a:solidFill>
              <a:srgbClr val="575757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L="36195">
              <a:lnSpc>
                <a:spcPts val="3485"/>
              </a:lnSpc>
            </a:pPr>
            <a:r>
              <a:rPr dirty="0" sz="3100" spc="-60">
                <a:solidFill>
                  <a:srgbClr val="BF0508"/>
                </a:solidFill>
                <a:latin typeface="Arial MT"/>
                <a:cs typeface="Arial MT"/>
              </a:rPr>
              <a:t>Arbitraje</a:t>
            </a:r>
            <a:r>
              <a:rPr dirty="0" sz="3100" spc="-140">
                <a:solidFill>
                  <a:srgbClr val="BF0508"/>
                </a:solidFill>
                <a:latin typeface="Arial MT"/>
                <a:cs typeface="Arial MT"/>
              </a:rPr>
              <a:t> </a:t>
            </a:r>
            <a:r>
              <a:rPr dirty="0" sz="3100" spc="-30">
                <a:solidFill>
                  <a:srgbClr val="B30707"/>
                </a:solidFill>
                <a:latin typeface="Arial MT"/>
                <a:cs typeface="Arial MT"/>
              </a:rPr>
              <a:t>Detectado</a:t>
            </a:r>
            <a:endParaRPr sz="3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3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400"/>
              </a:spcBef>
            </a:pPr>
            <a:endParaRPr sz="3100">
              <a:latin typeface="Arial MT"/>
              <a:cs typeface="Arial MT"/>
            </a:endParaRPr>
          </a:p>
          <a:p>
            <a:pPr algn="r" marR="66040">
              <a:lnSpc>
                <a:spcPct val="100000"/>
              </a:lnSpc>
            </a:pPr>
            <a:r>
              <a:rPr dirty="0" sz="2150" spc="-40">
                <a:solidFill>
                  <a:srgbClr val="971C1C"/>
                </a:solidFill>
                <a:latin typeface="Arial MT"/>
                <a:cs typeface="Arial MT"/>
              </a:rPr>
              <a:t>Cruce</a:t>
            </a:r>
            <a:r>
              <a:rPr dirty="0" sz="2150" spc="-110">
                <a:solidFill>
                  <a:srgbClr val="971C1C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821818"/>
                </a:solidFill>
                <a:latin typeface="Arial MT"/>
                <a:cs typeface="Arial MT"/>
              </a:rPr>
              <a:t>=</a:t>
            </a:r>
            <a:r>
              <a:rPr dirty="0" sz="2150" spc="-100">
                <a:solidFill>
                  <a:srgbClr val="821818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A80508"/>
                </a:solidFill>
                <a:latin typeface="Arial MT"/>
                <a:cs typeface="Arial MT"/>
              </a:rPr>
              <a:t>Arbitraje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2314903" y="5093405"/>
            <a:ext cx="4049395" cy="5981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15950">
              <a:lnSpc>
                <a:spcPct val="100000"/>
              </a:lnSpc>
              <a:spcBef>
                <a:spcPts val="95"/>
              </a:spcBef>
              <a:tabLst>
                <a:tab pos="1710689" algn="l"/>
                <a:tab pos="2805430" algn="l"/>
                <a:tab pos="3898900" algn="l"/>
              </a:tabLst>
            </a:pPr>
            <a:r>
              <a:rPr dirty="0" sz="1850" spc="-50">
                <a:latin typeface="Consolas"/>
                <a:cs typeface="Consolas"/>
              </a:rPr>
              <a:t>0</a:t>
            </a:r>
            <a:r>
              <a:rPr dirty="0" sz="1850">
                <a:latin typeface="Consolas"/>
                <a:cs typeface="Consolas"/>
              </a:rPr>
              <a:t>	</a:t>
            </a:r>
            <a:r>
              <a:rPr dirty="0" sz="1850" spc="-385">
                <a:solidFill>
                  <a:srgbClr val="0F0F0F"/>
                </a:solidFill>
                <a:latin typeface="Consolas"/>
                <a:cs typeface="Consolas"/>
              </a:rPr>
              <a:t>l</a:t>
            </a:r>
            <a:r>
              <a:rPr dirty="0" sz="1850">
                <a:solidFill>
                  <a:srgbClr val="0F0F0F"/>
                </a:solidFill>
                <a:latin typeface="Consolas"/>
                <a:cs typeface="Consolas"/>
              </a:rPr>
              <a:t>	</a:t>
            </a:r>
            <a:r>
              <a:rPr dirty="0" sz="1950" spc="25">
                <a:latin typeface="Consolas"/>
                <a:cs typeface="Consolas"/>
              </a:rPr>
              <a:t>2</a:t>
            </a:r>
            <a:r>
              <a:rPr dirty="0" sz="1950">
                <a:latin typeface="Consolas"/>
                <a:cs typeface="Consolas"/>
              </a:rPr>
              <a:t>	</a:t>
            </a:r>
            <a:r>
              <a:rPr dirty="0" baseline="-3003" sz="2775">
                <a:solidFill>
                  <a:srgbClr val="1C1C1C"/>
                </a:solidFill>
                <a:latin typeface="Cambria"/>
                <a:cs typeface="Cambria"/>
              </a:rPr>
              <a:t>3</a:t>
            </a:r>
            <a:endParaRPr baseline="-3003" sz="2775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800" spc="-50">
                <a:latin typeface="Arial MT"/>
                <a:cs typeface="Arial MT"/>
              </a:rPr>
              <a:t>Log-</a:t>
            </a:r>
            <a:r>
              <a:rPr dirty="0" sz="1800" spc="-10">
                <a:latin typeface="Arial MT"/>
                <a:cs typeface="Arial MT"/>
              </a:rPr>
              <a:t>Strike</a:t>
            </a:r>
            <a:r>
              <a:rPr dirty="0" sz="1800" spc="-9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(k)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9575800" y="8785225"/>
            <a:ext cx="2340610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109980" algn="l"/>
                <a:tab pos="2201545" algn="l"/>
              </a:tabLst>
            </a:pPr>
            <a:r>
              <a:rPr dirty="0" sz="1850" spc="-655">
                <a:latin typeface="Arial MT"/>
                <a:cs typeface="Arial MT"/>
              </a:rPr>
              <a:t>—</a:t>
            </a:r>
            <a:r>
              <a:rPr dirty="0" sz="1850" spc="-409">
                <a:latin typeface="Arial MT"/>
                <a:cs typeface="Arial MT"/>
              </a:rPr>
              <a:t>3</a:t>
            </a:r>
            <a:r>
              <a:rPr dirty="0" sz="1850">
                <a:latin typeface="Arial MT"/>
                <a:cs typeface="Arial MT"/>
              </a:rPr>
              <a:t>	</a:t>
            </a:r>
            <a:r>
              <a:rPr dirty="0" sz="1850" spc="-220">
                <a:latin typeface="Arial MT"/>
                <a:cs typeface="Arial MT"/>
              </a:rPr>
              <a:t>-</a:t>
            </a:r>
            <a:r>
              <a:rPr dirty="0" sz="1850" spc="-400">
                <a:latin typeface="Arial MT"/>
                <a:cs typeface="Arial MT"/>
              </a:rPr>
              <a:t>2</a:t>
            </a:r>
            <a:r>
              <a:rPr dirty="0" sz="1850">
                <a:latin typeface="Arial MT"/>
                <a:cs typeface="Arial MT"/>
              </a:rPr>
              <a:t>	</a:t>
            </a:r>
            <a:r>
              <a:rPr dirty="0" sz="1850" spc="-204">
                <a:latin typeface="Calibri"/>
                <a:cs typeface="Calibri"/>
              </a:rPr>
              <a:t>-</a:t>
            </a:r>
            <a:r>
              <a:rPr dirty="0" sz="1850" spc="-375">
                <a:latin typeface="Calibri"/>
                <a:cs typeface="Calibri"/>
              </a:rPr>
              <a:t>1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323916" y="6297083"/>
            <a:ext cx="7277100" cy="2501900"/>
          </a:xfrm>
          <a:prstGeom prst="rect">
            <a:avLst/>
          </a:prstGeom>
          <a:ln w="12700">
            <a:solidFill>
              <a:srgbClr val="444444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L="43180">
              <a:lnSpc>
                <a:spcPts val="3504"/>
              </a:lnSpc>
            </a:pPr>
            <a:r>
              <a:rPr dirty="0" sz="2950">
                <a:solidFill>
                  <a:srgbClr val="137715"/>
                </a:solidFill>
                <a:latin typeface="Arial MT"/>
                <a:cs typeface="Arial MT"/>
              </a:rPr>
              <a:t>Sin</a:t>
            </a:r>
            <a:r>
              <a:rPr dirty="0" sz="2950" spc="-165">
                <a:solidFill>
                  <a:srgbClr val="137715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05750E"/>
                </a:solidFill>
                <a:latin typeface="Arial MT"/>
                <a:cs typeface="Arial MT"/>
              </a:rPr>
              <a:t>Arbitraje</a:t>
            </a:r>
            <a:endParaRPr sz="2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2950">
              <a:latin typeface="Arial MT"/>
              <a:cs typeface="Arial MT"/>
            </a:endParaRPr>
          </a:p>
          <a:p>
            <a:pPr algn="ctr" marL="223520">
              <a:lnSpc>
                <a:spcPct val="100000"/>
              </a:lnSpc>
            </a:pPr>
            <a:r>
              <a:rPr dirty="0" sz="2000" spc="114">
                <a:solidFill>
                  <a:srgbClr val="1A6E18"/>
                </a:solidFill>
                <a:latin typeface="Arial MT"/>
                <a:cs typeface="Arial MT"/>
              </a:rPr>
              <a:t>7</a:t>
            </a:r>
            <a:r>
              <a:rPr dirty="0" baseline="-17094" sz="2925" spc="172">
                <a:solidFill>
                  <a:srgbClr val="1A6E18"/>
                </a:solidFill>
                <a:latin typeface="Arial MT"/>
                <a:cs typeface="Arial MT"/>
              </a:rPr>
              <a:t>2</a:t>
            </a:r>
            <a:r>
              <a:rPr dirty="0" baseline="-17094" sz="2925" spc="135">
                <a:solidFill>
                  <a:srgbClr val="1A6E18"/>
                </a:solidFill>
                <a:latin typeface="Arial MT"/>
                <a:cs typeface="Arial MT"/>
              </a:rPr>
              <a:t> </a:t>
            </a:r>
            <a:r>
              <a:rPr dirty="0" sz="2000" spc="135">
                <a:solidFill>
                  <a:srgbClr val="1C6E21"/>
                </a:solidFill>
                <a:latin typeface="Arial MT"/>
                <a:cs typeface="Arial MT"/>
              </a:rPr>
              <a:t>&gt;</a:t>
            </a:r>
            <a:r>
              <a:rPr dirty="0" sz="2000" spc="250">
                <a:solidFill>
                  <a:srgbClr val="1C6E21"/>
                </a:solidFill>
                <a:latin typeface="Arial MT"/>
                <a:cs typeface="Arial MT"/>
              </a:rPr>
              <a:t> </a:t>
            </a:r>
            <a:r>
              <a:rPr dirty="0" sz="2000" spc="540">
                <a:solidFill>
                  <a:srgbClr val="216224"/>
                </a:solidFill>
                <a:latin typeface="Arial MT"/>
                <a:cs typeface="Arial MT"/>
              </a:rPr>
              <a:t>’</a:t>
            </a:r>
            <a:r>
              <a:rPr dirty="0" baseline="-16666" sz="3000" spc="810">
                <a:solidFill>
                  <a:srgbClr val="216224"/>
                </a:solidFill>
                <a:latin typeface="Arial MT"/>
                <a:cs typeface="Arial MT"/>
              </a:rPr>
              <a:t>1</a:t>
            </a:r>
            <a:endParaRPr baseline="-16666" sz="3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20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450" spc="-570">
                <a:solidFill>
                  <a:srgbClr val="2A2A2A"/>
                </a:solidFill>
                <a:latin typeface="Consolas"/>
                <a:cs typeface="Consolas"/>
              </a:rPr>
              <a:t>l</a:t>
            </a:r>
            <a:endParaRPr sz="1450">
              <a:latin typeface="Consolas"/>
              <a:cs typeface="Consola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2313611" y="8776405"/>
            <a:ext cx="1808480" cy="588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17220">
              <a:lnSpc>
                <a:spcPts val="2220"/>
              </a:lnSpc>
              <a:spcBef>
                <a:spcPts val="95"/>
              </a:spcBef>
              <a:tabLst>
                <a:tab pos="1728470" algn="l"/>
              </a:tabLst>
            </a:pPr>
            <a:r>
              <a:rPr dirty="0" sz="1950" spc="-50">
                <a:latin typeface="Arial MT"/>
                <a:cs typeface="Arial MT"/>
              </a:rPr>
              <a:t>0</a:t>
            </a:r>
            <a:r>
              <a:rPr dirty="0" sz="1950">
                <a:latin typeface="Arial MT"/>
                <a:cs typeface="Arial MT"/>
              </a:rPr>
              <a:t>	</a:t>
            </a:r>
            <a:r>
              <a:rPr dirty="0" sz="1950" spc="-610">
                <a:latin typeface="Consolas"/>
                <a:cs typeface="Consolas"/>
              </a:rPr>
              <a:t>1</a:t>
            </a:r>
            <a:endParaRPr sz="1950">
              <a:latin typeface="Consolas"/>
              <a:cs typeface="Consolas"/>
            </a:endParaRPr>
          </a:p>
          <a:p>
            <a:pPr marL="12700">
              <a:lnSpc>
                <a:spcPts val="2220"/>
              </a:lnSpc>
            </a:pPr>
            <a:r>
              <a:rPr dirty="0" sz="1950" spc="-140">
                <a:latin typeface="Arial MT"/>
                <a:cs typeface="Arial MT"/>
              </a:rPr>
              <a:t>Log-</a:t>
            </a:r>
            <a:r>
              <a:rPr dirty="0" sz="1950" spc="-95">
                <a:latin typeface="Arial MT"/>
                <a:cs typeface="Arial MT"/>
              </a:rPr>
              <a:t>Strike</a:t>
            </a:r>
            <a:r>
              <a:rPr dirty="0" sz="1950" spc="10">
                <a:latin typeface="Arial MT"/>
                <a:cs typeface="Arial MT"/>
              </a:rPr>
              <a:t> </a:t>
            </a:r>
            <a:r>
              <a:rPr dirty="0" sz="1950" spc="-25">
                <a:latin typeface="Arial MT"/>
                <a:cs typeface="Arial MT"/>
              </a:rPr>
              <a:t>(k)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5106077" y="8749947"/>
            <a:ext cx="124333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12520" algn="l"/>
              </a:tabLst>
            </a:pPr>
            <a:r>
              <a:rPr dirty="0" sz="2150" spc="-50">
                <a:latin typeface="Consolas"/>
                <a:cs typeface="Consolas"/>
              </a:rPr>
              <a:t>2</a:t>
            </a:r>
            <a:r>
              <a:rPr dirty="0" sz="2150">
                <a:latin typeface="Consolas"/>
                <a:cs typeface="Consolas"/>
              </a:rPr>
              <a:t>	</a:t>
            </a:r>
            <a:r>
              <a:rPr dirty="0" sz="2150" spc="-340">
                <a:latin typeface="Arial MT"/>
                <a:cs typeface="Arial MT"/>
              </a:rPr>
              <a:t>3</a:t>
            </a:r>
            <a:endParaRPr sz="2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70500" y="3327400"/>
            <a:ext cx="7823200" cy="54102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35400" y="5359400"/>
            <a:ext cx="342900" cy="3556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205200" y="5359400"/>
            <a:ext cx="355600" cy="3556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00076" y="378530"/>
            <a:ext cx="12054840" cy="988694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300" spc="-175"/>
              <a:t>Definición</a:t>
            </a:r>
            <a:r>
              <a:rPr dirty="0" sz="6300" spc="-100"/>
              <a:t> </a:t>
            </a:r>
            <a:r>
              <a:rPr dirty="0" sz="6300" spc="-220"/>
              <a:t>de</a:t>
            </a:r>
            <a:r>
              <a:rPr dirty="0" sz="6300" spc="-530"/>
              <a:t> </a:t>
            </a:r>
            <a:r>
              <a:rPr dirty="0" sz="6300" spc="-254"/>
              <a:t>Pendientes</a:t>
            </a:r>
            <a:r>
              <a:rPr dirty="0" sz="6300" spc="-20"/>
              <a:t> </a:t>
            </a:r>
            <a:r>
              <a:rPr dirty="0" sz="6300" spc="-160"/>
              <a:t>Asintóticas</a:t>
            </a:r>
            <a:endParaRPr sz="6300"/>
          </a:p>
        </p:txBody>
      </p:sp>
      <p:sp>
        <p:nvSpPr>
          <p:cNvPr id="21" name="object 2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5875">
              <a:lnSpc>
                <a:spcPts val="1555"/>
              </a:lnSpc>
            </a:pPr>
            <a:r>
              <a:rPr dirty="0" sz="1300">
                <a:latin typeface="Arial MT"/>
                <a:cs typeface="Arial MT"/>
              </a:rPr>
              <a:t>W</a:t>
            </a:r>
            <a:r>
              <a:rPr dirty="0" sz="1300" spc="32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NotebaokLM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9530" rIns="0" bIns="0" rtlCol="0" vert="horz">
            <a:spAutoFit/>
          </a:bodyPr>
          <a:lstStyle/>
          <a:p>
            <a:pPr marL="18415" marR="5080" indent="-6350">
              <a:lnSpc>
                <a:spcPts val="4150"/>
              </a:lnSpc>
              <a:spcBef>
                <a:spcPts val="390"/>
              </a:spcBef>
            </a:pPr>
            <a:r>
              <a:rPr dirty="0" spc="-60"/>
              <a:t>Controlamos</a:t>
            </a:r>
            <a:r>
              <a:rPr dirty="0" spc="-140"/>
              <a:t> </a:t>
            </a:r>
            <a:r>
              <a:rPr dirty="0"/>
              <a:t>el</a:t>
            </a:r>
            <a:r>
              <a:rPr dirty="0" spc="-250"/>
              <a:t> </a:t>
            </a:r>
            <a:r>
              <a:rPr dirty="0" spc="-10"/>
              <a:t>comportamiento</a:t>
            </a:r>
            <a:r>
              <a:rPr dirty="0" spc="-270"/>
              <a:t> </a:t>
            </a:r>
            <a:r>
              <a:rPr dirty="0" spc="-165"/>
              <a:t>de</a:t>
            </a:r>
            <a:r>
              <a:rPr dirty="0" spc="-105"/>
              <a:t> </a:t>
            </a:r>
            <a:r>
              <a:rPr dirty="0"/>
              <a:t>las</a:t>
            </a:r>
            <a:r>
              <a:rPr dirty="0" spc="-210"/>
              <a:t> </a:t>
            </a:r>
            <a:r>
              <a:rPr dirty="0" spc="-65"/>
              <a:t>alas</a:t>
            </a:r>
            <a:r>
              <a:rPr dirty="0" spc="-170"/>
              <a:t> </a:t>
            </a:r>
            <a:r>
              <a:rPr dirty="0" spc="-35"/>
              <a:t>mediante</a:t>
            </a:r>
            <a:r>
              <a:rPr dirty="0" spc="-15"/>
              <a:t> </a:t>
            </a:r>
            <a:r>
              <a:rPr dirty="0" spc="-45"/>
              <a:t>las</a:t>
            </a:r>
            <a:r>
              <a:rPr dirty="0" spc="-204"/>
              <a:t> </a:t>
            </a:r>
            <a:r>
              <a:rPr dirty="0" spc="-70"/>
              <a:t>pendientes </a:t>
            </a:r>
            <a:r>
              <a:rPr dirty="0" spc="-20"/>
              <a:t>asintóticas</a:t>
            </a:r>
            <a:r>
              <a:rPr dirty="0" spc="-145"/>
              <a:t> </a:t>
            </a:r>
            <a:r>
              <a:rPr dirty="0" spc="-110"/>
              <a:t>derecha</a:t>
            </a:r>
            <a:r>
              <a:rPr dirty="0" spc="-105"/>
              <a:t> </a:t>
            </a:r>
            <a:r>
              <a:rPr dirty="0" spc="-80"/>
              <a:t>e</a:t>
            </a:r>
            <a:r>
              <a:rPr dirty="0" spc="-240"/>
              <a:t> </a:t>
            </a:r>
            <a:r>
              <a:rPr dirty="0" spc="-10"/>
              <a:t>izquierda.</a:t>
            </a:r>
          </a:p>
          <a:p>
            <a:pPr marL="3999229">
              <a:lnSpc>
                <a:spcPct val="100000"/>
              </a:lnSpc>
              <a:spcBef>
                <a:spcPts val="2470"/>
              </a:spcBef>
            </a:pPr>
            <a:r>
              <a:rPr dirty="0" sz="2150" spc="-20"/>
              <a:t>0.40</a:t>
            </a:r>
            <a:endParaRPr sz="2150"/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2150"/>
          </a:p>
          <a:p>
            <a:pPr marL="3999229">
              <a:lnSpc>
                <a:spcPct val="100000"/>
              </a:lnSpc>
            </a:pPr>
            <a:r>
              <a:rPr dirty="0" sz="2050" spc="-20">
                <a:latin typeface="Consolas"/>
                <a:cs typeface="Consolas"/>
              </a:rPr>
              <a:t>0.35</a:t>
            </a:r>
            <a:endParaRPr sz="2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2050">
              <a:latin typeface="Consolas"/>
              <a:cs typeface="Consolas"/>
            </a:endParaRPr>
          </a:p>
          <a:p>
            <a:pPr marL="3999229">
              <a:lnSpc>
                <a:spcPct val="100000"/>
              </a:lnSpc>
            </a:pPr>
            <a:r>
              <a:rPr dirty="0" sz="2150" spc="-20"/>
              <a:t>0.30</a:t>
            </a:r>
            <a:endParaRPr sz="2150"/>
          </a:p>
        </p:txBody>
      </p:sp>
      <p:sp>
        <p:nvSpPr>
          <p:cNvPr id="7" name="object 7" descr=""/>
          <p:cNvSpPr txBox="1"/>
          <p:nvPr/>
        </p:nvSpPr>
        <p:spPr>
          <a:xfrm>
            <a:off x="762531" y="5247242"/>
            <a:ext cx="3069590" cy="124206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2850" spc="-190">
                <a:latin typeface="Arial MT"/>
                <a:cs typeface="Arial MT"/>
              </a:rPr>
              <a:t>Ala</a:t>
            </a:r>
            <a:r>
              <a:rPr dirty="0" sz="2850" spc="-85">
                <a:latin typeface="Arial MT"/>
                <a:cs typeface="Arial MT"/>
              </a:rPr>
              <a:t> </a:t>
            </a:r>
            <a:r>
              <a:rPr dirty="0" sz="2850" spc="-110">
                <a:latin typeface="Arial MT"/>
                <a:cs typeface="Arial MT"/>
              </a:rPr>
              <a:t>Izquierda</a:t>
            </a:r>
            <a:r>
              <a:rPr dirty="0" sz="2850" spc="-90">
                <a:latin typeface="Arial MT"/>
                <a:cs typeface="Arial MT"/>
              </a:rPr>
              <a:t> </a:t>
            </a:r>
            <a:r>
              <a:rPr dirty="0" sz="2850" i="1">
                <a:latin typeface="Arial"/>
                <a:cs typeface="Arial"/>
              </a:rPr>
              <a:t>(k</a:t>
            </a:r>
            <a:r>
              <a:rPr dirty="0" sz="2850" spc="-70" i="1">
                <a:latin typeface="Arial"/>
                <a:cs typeface="Arial"/>
              </a:rPr>
              <a:t> </a:t>
            </a:r>
            <a:r>
              <a:rPr dirty="0" sz="2850" spc="-70">
                <a:latin typeface="Arial MT"/>
                <a:cs typeface="Arial MT"/>
              </a:rPr>
              <a:t>-</a:t>
            </a:r>
            <a:r>
              <a:rPr dirty="0" sz="2850" spc="-50">
                <a:latin typeface="Arial MT"/>
                <a:cs typeface="Arial MT"/>
              </a:rPr>
              <a:t>+</a:t>
            </a:r>
            <a:endParaRPr sz="2850">
              <a:latin typeface="Arial MT"/>
              <a:cs typeface="Arial MT"/>
            </a:endParaRPr>
          </a:p>
          <a:p>
            <a:pPr marL="312420">
              <a:lnSpc>
                <a:spcPct val="100000"/>
              </a:lnSpc>
              <a:spcBef>
                <a:spcPts val="330"/>
              </a:spcBef>
            </a:pPr>
            <a:r>
              <a:rPr dirty="0" sz="4700" spc="-330" i="1">
                <a:latin typeface="Arial"/>
                <a:cs typeface="Arial"/>
              </a:rPr>
              <a:t>S‹</a:t>
            </a:r>
            <a:r>
              <a:rPr dirty="0" sz="4700" spc="265" i="1">
                <a:latin typeface="Arial"/>
                <a:cs typeface="Arial"/>
              </a:rPr>
              <a:t> </a:t>
            </a:r>
            <a:r>
              <a:rPr dirty="0" sz="4700" spc="-3479">
                <a:latin typeface="Arial MT"/>
                <a:cs typeface="Arial MT"/>
              </a:rPr>
              <a:t>—</a:t>
            </a:r>
            <a:r>
              <a:rPr dirty="0" sz="4700" spc="-2315">
                <a:latin typeface="Arial MT"/>
                <a:cs typeface="Arial MT"/>
              </a:rPr>
              <a:t>—</a:t>
            </a:r>
            <a:r>
              <a:rPr dirty="0" sz="4700" spc="-590">
                <a:latin typeface="Arial MT"/>
                <a:cs typeface="Arial MT"/>
              </a:rPr>
              <a:t>6(1</a:t>
            </a:r>
            <a:r>
              <a:rPr dirty="0" sz="4700" spc="-375">
                <a:latin typeface="Arial MT"/>
                <a:cs typeface="Arial MT"/>
              </a:rPr>
              <a:t> </a:t>
            </a:r>
            <a:r>
              <a:rPr dirty="0" sz="4700" spc="-1180">
                <a:latin typeface="Arial MT"/>
                <a:cs typeface="Arial MT"/>
              </a:rPr>
              <a:t>—</a:t>
            </a:r>
            <a:r>
              <a:rPr dirty="0" sz="4700" spc="-345">
                <a:latin typeface="Arial MT"/>
                <a:cs typeface="Arial MT"/>
              </a:rPr>
              <a:t>/')</a:t>
            </a:r>
            <a:endParaRPr sz="47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358902" y="5029552"/>
            <a:ext cx="908050" cy="24212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5565">
              <a:lnSpc>
                <a:spcPct val="100000"/>
              </a:lnSpc>
              <a:spcBef>
                <a:spcPts val="95"/>
              </a:spcBef>
            </a:pPr>
            <a:r>
              <a:rPr dirty="0" baseline="-37037" sz="4275">
                <a:latin typeface="Arial MT"/>
                <a:cs typeface="Arial MT"/>
              </a:rPr>
              <a:t>°</a:t>
            </a:r>
            <a:r>
              <a:rPr dirty="0" baseline="-37037" sz="4275" spc="277">
                <a:latin typeface="Arial MT"/>
                <a:cs typeface="Arial MT"/>
              </a:rPr>
              <a:t> </a:t>
            </a:r>
            <a:r>
              <a:rPr dirty="0" sz="2150">
                <a:latin typeface="Arial MT"/>
                <a:cs typeface="Arial MT"/>
              </a:rPr>
              <a:t>0</a:t>
            </a:r>
            <a:r>
              <a:rPr dirty="0" sz="2150" spc="-10">
                <a:latin typeface="Arial MT"/>
                <a:cs typeface="Arial MT"/>
              </a:rPr>
              <a:t> </a:t>
            </a:r>
            <a:r>
              <a:rPr dirty="0" baseline="2710" sz="3075" spc="-37">
                <a:latin typeface="Arial MT"/>
                <a:cs typeface="Arial MT"/>
              </a:rPr>
              <a:t>2</a:t>
            </a:r>
            <a:r>
              <a:rPr dirty="0" sz="2150" spc="-25">
                <a:latin typeface="Arial MT"/>
                <a:cs typeface="Arial MT"/>
              </a:rPr>
              <a:t>5</a:t>
            </a:r>
            <a:endParaRPr sz="21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150">
              <a:latin typeface="Arial MT"/>
              <a:cs typeface="Arial MT"/>
            </a:endParaRPr>
          </a:p>
          <a:p>
            <a:pPr marL="98425">
              <a:lnSpc>
                <a:spcPts val="1515"/>
              </a:lnSpc>
              <a:spcBef>
                <a:spcPts val="5"/>
              </a:spcBef>
            </a:pPr>
            <a:r>
              <a:rPr dirty="0" sz="2150" spc="-1100">
                <a:latin typeface="Arial MT"/>
                <a:cs typeface="Arial MT"/>
              </a:rPr>
              <a:t>—</a:t>
            </a:r>
            <a:r>
              <a:rPr dirty="0" sz="2150" spc="360">
                <a:latin typeface="Arial MT"/>
                <a:cs typeface="Arial MT"/>
              </a:rPr>
              <a:t> </a:t>
            </a:r>
            <a:r>
              <a:rPr dirty="0" sz="2150">
                <a:latin typeface="Arial MT"/>
                <a:cs typeface="Arial MT"/>
              </a:rPr>
              <a:t>0</a:t>
            </a:r>
            <a:r>
              <a:rPr dirty="0" sz="2150" spc="-85">
                <a:latin typeface="Arial MT"/>
                <a:cs typeface="Arial MT"/>
              </a:rPr>
              <a:t> </a:t>
            </a:r>
            <a:r>
              <a:rPr dirty="0" sz="2150" spc="-35">
                <a:latin typeface="Arial MT"/>
                <a:cs typeface="Arial MT"/>
              </a:rPr>
              <a:t>20</a:t>
            </a:r>
            <a:endParaRPr sz="2150">
              <a:latin typeface="Arial MT"/>
              <a:cs typeface="Arial MT"/>
            </a:endParaRPr>
          </a:p>
          <a:p>
            <a:pPr marL="60960">
              <a:lnSpc>
                <a:spcPts val="4054"/>
              </a:lnSpc>
            </a:pPr>
            <a:r>
              <a:rPr dirty="0" sz="4700" spc="-1645">
                <a:latin typeface="Arial MT"/>
                <a:cs typeface="Arial MT"/>
              </a:rPr>
              <a:t>°</a:t>
            </a:r>
            <a:endParaRPr sz="4700">
              <a:latin typeface="Arial MT"/>
              <a:cs typeface="Arial MT"/>
            </a:endParaRPr>
          </a:p>
          <a:p>
            <a:pPr marL="38100" marR="57150" indent="9525">
              <a:lnSpc>
                <a:spcPct val="72500"/>
              </a:lnSpc>
              <a:spcBef>
                <a:spcPts val="235"/>
              </a:spcBef>
            </a:pPr>
            <a:r>
              <a:rPr dirty="0" sz="2300" spc="-130">
                <a:latin typeface="Courier New"/>
                <a:cs typeface="Courier New"/>
              </a:rPr>
              <a:t>E0.15 </a:t>
            </a:r>
            <a:r>
              <a:rPr dirty="0" sz="2300" spc="-625">
                <a:latin typeface="Courier New"/>
                <a:cs typeface="Courier New"/>
              </a:rPr>
              <a:t>F-</a:t>
            </a:r>
            <a:endParaRPr sz="23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  <a:spcBef>
                <a:spcPts val="690"/>
              </a:spcBef>
            </a:pPr>
            <a:r>
              <a:rPr dirty="0" sz="2050" spc="-20">
                <a:latin typeface="Calibri"/>
                <a:cs typeface="Calibri"/>
              </a:rPr>
              <a:t>0.10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702398" y="7806266"/>
            <a:ext cx="512445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50" spc="-20">
                <a:latin typeface="Calibri"/>
                <a:cs typeface="Calibri"/>
              </a:rPr>
              <a:t>0.05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702708" y="8475485"/>
            <a:ext cx="1692910" cy="5486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2050"/>
              </a:lnSpc>
              <a:spcBef>
                <a:spcPts val="110"/>
              </a:spcBef>
            </a:pPr>
            <a:r>
              <a:rPr dirty="0" sz="2000" spc="-20">
                <a:latin typeface="Calibri"/>
                <a:cs typeface="Calibri"/>
              </a:rPr>
              <a:t>0.00</a:t>
            </a:r>
            <a:endParaRPr sz="2000">
              <a:latin typeface="Calibri"/>
              <a:cs typeface="Calibri"/>
            </a:endParaRPr>
          </a:p>
          <a:p>
            <a:pPr marL="382270">
              <a:lnSpc>
                <a:spcPts val="2050"/>
              </a:lnSpc>
              <a:tabLst>
                <a:tab pos="1233170" algn="l"/>
              </a:tabLst>
            </a:pPr>
            <a:r>
              <a:rPr dirty="0" sz="2000" spc="60">
                <a:latin typeface="Consolas"/>
                <a:cs typeface="Consolas"/>
              </a:rPr>
              <a:t>-</a:t>
            </a:r>
            <a:r>
              <a:rPr dirty="0" sz="2000" spc="35">
                <a:latin typeface="Consolas"/>
                <a:cs typeface="Consolas"/>
              </a:rPr>
              <a:t>12</a:t>
            </a:r>
            <a:r>
              <a:rPr dirty="0" sz="2000">
                <a:latin typeface="Consolas"/>
                <a:cs typeface="Consolas"/>
              </a:rPr>
              <a:t>	</a:t>
            </a:r>
            <a:r>
              <a:rPr dirty="0" sz="2000" spc="60">
                <a:latin typeface="Consolas"/>
                <a:cs typeface="Consolas"/>
              </a:rPr>
              <a:t>-</a:t>
            </a:r>
            <a:r>
              <a:rPr dirty="0" sz="2000" spc="35">
                <a:latin typeface="Consolas"/>
                <a:cs typeface="Consolas"/>
              </a:rPr>
              <a:t>lO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850430" y="8691385"/>
            <a:ext cx="323215" cy="3327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spc="60">
                <a:latin typeface="Consolas"/>
                <a:cs typeface="Consolas"/>
              </a:rPr>
              <a:t>-</a:t>
            </a:r>
            <a:r>
              <a:rPr dirty="0" sz="2000" spc="10">
                <a:latin typeface="Consolas"/>
                <a:cs typeface="Consolas"/>
              </a:rPr>
              <a:t>7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714030" y="8691385"/>
            <a:ext cx="323215" cy="3327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spc="60">
                <a:latin typeface="Consolas"/>
                <a:cs typeface="Consolas"/>
              </a:rPr>
              <a:t>-</a:t>
            </a:r>
            <a:r>
              <a:rPr dirty="0" sz="2000" spc="10">
                <a:latin typeface="Consolas"/>
                <a:cs typeface="Consolas"/>
              </a:rPr>
              <a:t>5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357540" y="8691385"/>
            <a:ext cx="172085" cy="3327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spc="-50">
                <a:latin typeface="Consolas"/>
                <a:cs typeface="Consolas"/>
              </a:rPr>
              <a:t>2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221429" y="8691385"/>
            <a:ext cx="161925" cy="3327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spc="-50">
                <a:latin typeface="Consolas"/>
                <a:cs typeface="Consolas"/>
              </a:rPr>
              <a:t>4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2075038" y="8691385"/>
            <a:ext cx="166370" cy="3327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spc="-50">
                <a:latin typeface="Consolas"/>
                <a:cs typeface="Consolas"/>
              </a:rPr>
              <a:t>6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2926441" y="8691385"/>
            <a:ext cx="167640" cy="3327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spc="-50">
                <a:latin typeface="Consolas"/>
                <a:cs typeface="Consolas"/>
              </a:rPr>
              <a:t>8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493204" y="8691385"/>
            <a:ext cx="1422400" cy="6165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83820">
              <a:lnSpc>
                <a:spcPts val="2350"/>
              </a:lnSpc>
              <a:spcBef>
                <a:spcPts val="110"/>
              </a:spcBef>
              <a:tabLst>
                <a:tab pos="1033144" algn="l"/>
              </a:tabLst>
            </a:pPr>
            <a:r>
              <a:rPr dirty="0" sz="2000" spc="60">
                <a:latin typeface="Consolas"/>
                <a:cs typeface="Consolas"/>
              </a:rPr>
              <a:t>-</a:t>
            </a:r>
            <a:r>
              <a:rPr dirty="0" sz="2000" spc="15">
                <a:latin typeface="Consolas"/>
                <a:cs typeface="Consolas"/>
              </a:rPr>
              <a:t>2</a:t>
            </a:r>
            <a:r>
              <a:rPr dirty="0" sz="2000">
                <a:latin typeface="Consolas"/>
                <a:cs typeface="Consolas"/>
              </a:rPr>
              <a:t>	</a:t>
            </a:r>
            <a:r>
              <a:rPr dirty="0" sz="2000" spc="5">
                <a:latin typeface="Consolas"/>
                <a:cs typeface="Consolas"/>
              </a:rPr>
              <a:t>0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ts val="2290"/>
              </a:lnSpc>
            </a:pPr>
            <a:r>
              <a:rPr dirty="0" sz="1950" spc="-185">
                <a:latin typeface="Arial MT"/>
                <a:cs typeface="Arial MT"/>
              </a:rPr>
              <a:t>log—</a:t>
            </a:r>
            <a:r>
              <a:rPr dirty="0" sz="1950" spc="-85">
                <a:latin typeface="Arial MT"/>
                <a:cs typeface="Arial MT"/>
              </a:rPr>
              <a:t>strike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 spc="-25" i="1">
                <a:latin typeface="Arial"/>
                <a:cs typeface="Arial"/>
              </a:rPr>
              <a:t>(k)</a:t>
            </a:r>
            <a:endParaRPr sz="195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3513345" y="5262033"/>
            <a:ext cx="2597150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-180">
                <a:latin typeface="Arial MT"/>
                <a:cs typeface="Arial MT"/>
              </a:rPr>
              <a:t>Ala</a:t>
            </a:r>
            <a:r>
              <a:rPr dirty="0" sz="2900" spc="-20">
                <a:latin typeface="Arial MT"/>
                <a:cs typeface="Arial MT"/>
              </a:rPr>
              <a:t> </a:t>
            </a:r>
            <a:r>
              <a:rPr dirty="0" sz="2900" spc="-215">
                <a:latin typeface="Arial MT"/>
                <a:cs typeface="Arial MT"/>
              </a:rPr>
              <a:t>Derecha</a:t>
            </a:r>
            <a:r>
              <a:rPr dirty="0" sz="2900" spc="15">
                <a:latin typeface="Arial MT"/>
                <a:cs typeface="Arial MT"/>
              </a:rPr>
              <a:t> </a:t>
            </a:r>
            <a:r>
              <a:rPr dirty="0" sz="2900" i="1">
                <a:latin typeface="Arial"/>
                <a:cs typeface="Arial"/>
              </a:rPr>
              <a:t>{k</a:t>
            </a:r>
            <a:r>
              <a:rPr dirty="0" sz="2900" spc="-170" i="1">
                <a:latin typeface="Arial"/>
                <a:cs typeface="Arial"/>
              </a:rPr>
              <a:t> </a:t>
            </a:r>
            <a:r>
              <a:rPr dirty="0" sz="2900" spc="-1430" i="1">
                <a:latin typeface="Arial"/>
                <a:cs typeface="Arial"/>
              </a:rPr>
              <a:t>—</a:t>
            </a:r>
            <a:r>
              <a:rPr dirty="0" sz="2900" spc="-885" i="1">
                <a:latin typeface="Arial"/>
                <a:cs typeface="Arial"/>
              </a:rPr>
              <a:t>+</a:t>
            </a:r>
            <a:endParaRPr sz="29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3615618" y="5967941"/>
            <a:ext cx="109601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747395" algn="l"/>
              </a:tabLst>
            </a:pPr>
            <a:r>
              <a:rPr dirty="0" sz="2700" spc="185" i="1">
                <a:latin typeface="Arial"/>
                <a:cs typeface="Arial"/>
              </a:rPr>
              <a:t>S</a:t>
            </a:r>
            <a:r>
              <a:rPr dirty="0" baseline="-10288" sz="4050" spc="277" i="1">
                <a:latin typeface="Arial"/>
                <a:cs typeface="Arial"/>
              </a:rPr>
              <a:t>R</a:t>
            </a:r>
            <a:r>
              <a:rPr dirty="0" baseline="-10288" sz="4050" i="1">
                <a:latin typeface="Arial"/>
                <a:cs typeface="Arial"/>
              </a:rPr>
              <a:t>	</a:t>
            </a:r>
            <a:r>
              <a:rPr dirty="0" baseline="-13374" sz="4050" spc="-480" i="1">
                <a:latin typeface="Arial"/>
                <a:cs typeface="Arial"/>
              </a:rPr>
              <a:t>—</a:t>
            </a:r>
            <a:endParaRPr baseline="-13374" sz="405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5041371" y="5999691"/>
            <a:ext cx="1397635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1970" algn="l"/>
                <a:tab pos="1270635" algn="l"/>
              </a:tabLst>
            </a:pPr>
            <a:r>
              <a:rPr dirty="0" sz="2700" spc="-50">
                <a:latin typeface="Arial MT"/>
                <a:cs typeface="Arial MT"/>
              </a:rPr>
              <a:t>(</a:t>
            </a:r>
            <a:r>
              <a:rPr dirty="0" sz="2700">
                <a:latin typeface="Arial MT"/>
                <a:cs typeface="Arial MT"/>
              </a:rPr>
              <a:t>	</a:t>
            </a:r>
            <a:r>
              <a:rPr dirty="0" sz="2700" spc="-50">
                <a:latin typeface="Arial MT"/>
                <a:cs typeface="Arial MT"/>
              </a:rPr>
              <a:t>+</a:t>
            </a:r>
            <a:r>
              <a:rPr dirty="0" sz="2700">
                <a:latin typeface="Arial MT"/>
                <a:cs typeface="Arial MT"/>
              </a:rPr>
              <a:t>	</a:t>
            </a:r>
            <a:r>
              <a:rPr dirty="0" sz="2700" spc="-60" i="1">
                <a:latin typeface="Arial"/>
                <a:cs typeface="Arial"/>
              </a:rPr>
              <a:t>)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09200" y="2451100"/>
            <a:ext cx="6057900" cy="44450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4191000" y="7973483"/>
            <a:ext cx="1642745" cy="0"/>
          </a:xfrm>
          <a:custGeom>
            <a:avLst/>
            <a:gdLst/>
            <a:ahLst/>
            <a:cxnLst/>
            <a:rect l="l" t="t" r="r" b="b"/>
            <a:pathLst>
              <a:path w="1642745" h="0">
                <a:moveTo>
                  <a:pt x="0" y="0"/>
                </a:moveTo>
                <a:lnTo>
                  <a:pt x="1642533" y="0"/>
                </a:lnTo>
              </a:path>
            </a:pathLst>
          </a:custGeom>
          <a:ln w="29633">
            <a:solidFill>
              <a:srgbClr val="1F1F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191000" y="6716183"/>
            <a:ext cx="1630045" cy="0"/>
          </a:xfrm>
          <a:custGeom>
            <a:avLst/>
            <a:gdLst/>
            <a:ahLst/>
            <a:cxnLst/>
            <a:rect l="l" t="t" r="r" b="b"/>
            <a:pathLst>
              <a:path w="1630045" h="0">
                <a:moveTo>
                  <a:pt x="0" y="0"/>
                </a:moveTo>
                <a:lnTo>
                  <a:pt x="1629833" y="0"/>
                </a:lnTo>
              </a:path>
            </a:pathLst>
          </a:custGeom>
          <a:ln w="29633">
            <a:solidFill>
              <a:srgbClr val="34343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1607800" y="3018370"/>
            <a:ext cx="575945" cy="55244"/>
          </a:xfrm>
          <a:custGeom>
            <a:avLst/>
            <a:gdLst/>
            <a:ahLst/>
            <a:cxnLst/>
            <a:rect l="l" t="t" r="r" b="b"/>
            <a:pathLst>
              <a:path w="575945" h="55244">
                <a:moveTo>
                  <a:pt x="575729" y="0"/>
                </a:moveTo>
                <a:lnTo>
                  <a:pt x="0" y="0"/>
                </a:lnTo>
                <a:lnTo>
                  <a:pt x="0" y="12700"/>
                </a:lnTo>
                <a:lnTo>
                  <a:pt x="0" y="25400"/>
                </a:lnTo>
                <a:lnTo>
                  <a:pt x="0" y="29641"/>
                </a:lnTo>
                <a:lnTo>
                  <a:pt x="0" y="42341"/>
                </a:lnTo>
                <a:lnTo>
                  <a:pt x="0" y="55041"/>
                </a:lnTo>
                <a:lnTo>
                  <a:pt x="575729" y="55041"/>
                </a:lnTo>
                <a:lnTo>
                  <a:pt x="575729" y="42341"/>
                </a:lnTo>
                <a:lnTo>
                  <a:pt x="575729" y="29641"/>
                </a:lnTo>
                <a:lnTo>
                  <a:pt x="575729" y="25400"/>
                </a:lnTo>
                <a:lnTo>
                  <a:pt x="575729" y="12700"/>
                </a:lnTo>
                <a:lnTo>
                  <a:pt x="575729" y="0"/>
                </a:lnTo>
                <a:close/>
              </a:path>
            </a:pathLst>
          </a:custGeom>
          <a:solidFill>
            <a:srgbClr val="2B74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9329743" y="3580781"/>
            <a:ext cx="360680" cy="235775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705"/>
              </a:lnSpc>
            </a:pPr>
            <a:r>
              <a:rPr dirty="0" sz="2350" spc="-30">
                <a:latin typeface="Arial MT"/>
                <a:cs typeface="Arial MT"/>
              </a:rPr>
              <a:t>Total</a:t>
            </a:r>
            <a:r>
              <a:rPr dirty="0" sz="2350" spc="-135">
                <a:latin typeface="Arial MT"/>
                <a:cs typeface="Arial MT"/>
              </a:rPr>
              <a:t> </a:t>
            </a:r>
            <a:r>
              <a:rPr dirty="0" sz="2350" spc="-35">
                <a:latin typeface="Arial MT"/>
                <a:cs typeface="Arial MT"/>
              </a:rPr>
              <a:t>Variance</a:t>
            </a:r>
            <a:r>
              <a:rPr dirty="0" sz="2350" spc="-55">
                <a:latin typeface="Arial MT"/>
                <a:cs typeface="Arial MT"/>
              </a:rPr>
              <a:t> </a:t>
            </a:r>
            <a:r>
              <a:rPr dirty="0" sz="2350" spc="-35">
                <a:latin typeface="Arial MT"/>
                <a:cs typeface="Arial MT"/>
              </a:rPr>
              <a:t>(w)</a:t>
            </a:r>
            <a:endParaRPr sz="235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65500" y="7480300"/>
            <a:ext cx="2400300" cy="3937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16400" y="8089900"/>
            <a:ext cx="1549400" cy="406400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703485" y="351366"/>
            <a:ext cx="6087110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50" spc="-25">
                <a:latin typeface="Arial MT"/>
                <a:cs typeface="Arial MT"/>
              </a:rPr>
              <a:t>Precision</a:t>
            </a:r>
            <a:r>
              <a:rPr dirty="0" sz="2050" spc="-75">
                <a:latin typeface="Arial MT"/>
                <a:cs typeface="Arial MT"/>
              </a:rPr>
              <a:t> </a:t>
            </a:r>
            <a:r>
              <a:rPr dirty="0" sz="2050" spc="-50">
                <a:latin typeface="Arial MT"/>
                <a:cs typeface="Arial MT"/>
              </a:rPr>
              <a:t>Engineering</a:t>
            </a:r>
            <a:r>
              <a:rPr dirty="0" sz="2050" spc="-25">
                <a:latin typeface="Arial MT"/>
                <a:cs typeface="Arial MT"/>
              </a:rPr>
              <a:t> </a:t>
            </a:r>
            <a:r>
              <a:rPr dirty="0" sz="2050">
                <a:latin typeface="Arial MT"/>
                <a:cs typeface="Arial MT"/>
              </a:rPr>
              <a:t>meets</a:t>
            </a:r>
            <a:r>
              <a:rPr dirty="0" sz="2050" spc="-140">
                <a:latin typeface="Arial MT"/>
                <a:cs typeface="Arial MT"/>
              </a:rPr>
              <a:t> </a:t>
            </a:r>
            <a:r>
              <a:rPr dirty="0" sz="2050" spc="-10">
                <a:latin typeface="Arial MT"/>
                <a:cs typeface="Arial MT"/>
              </a:rPr>
              <a:t>Swiss</a:t>
            </a:r>
            <a:r>
              <a:rPr dirty="0" sz="2050" spc="-135">
                <a:latin typeface="Arial MT"/>
                <a:cs typeface="Arial MT"/>
              </a:rPr>
              <a:t> </a:t>
            </a:r>
            <a:r>
              <a:rPr dirty="0" sz="2050" spc="-10">
                <a:latin typeface="Arial MT"/>
                <a:cs typeface="Arial MT"/>
              </a:rPr>
              <a:t>International</a:t>
            </a:r>
            <a:r>
              <a:rPr dirty="0" sz="2050" spc="-30">
                <a:latin typeface="Arial MT"/>
                <a:cs typeface="Arial MT"/>
              </a:rPr>
              <a:t> </a:t>
            </a:r>
            <a:r>
              <a:rPr dirty="0" sz="2050" spc="-10">
                <a:latin typeface="Arial MT"/>
                <a:cs typeface="Arial MT"/>
              </a:rPr>
              <a:t>Style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81687" y="729897"/>
            <a:ext cx="10852150" cy="92519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900" spc="50"/>
              <a:t>Lógica</a:t>
            </a:r>
            <a:r>
              <a:rPr dirty="0" sz="5900" spc="60"/>
              <a:t> </a:t>
            </a:r>
            <a:r>
              <a:rPr dirty="0" sz="5900"/>
              <a:t>de</a:t>
            </a:r>
            <a:r>
              <a:rPr dirty="0" sz="5900" spc="-85"/>
              <a:t> </a:t>
            </a:r>
            <a:r>
              <a:rPr dirty="0" sz="5900"/>
              <a:t>Corrección</a:t>
            </a:r>
            <a:r>
              <a:rPr dirty="0" sz="5900" spc="355"/>
              <a:t> </a:t>
            </a:r>
            <a:r>
              <a:rPr dirty="0" sz="5900" spc="60"/>
              <a:t>Asintótica</a:t>
            </a:r>
            <a:endParaRPr sz="5900"/>
          </a:p>
        </p:txBody>
      </p:sp>
      <p:sp>
        <p:nvSpPr>
          <p:cNvPr id="11" name="object 11" descr="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2857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50"/>
              </a:spcBef>
            </a:pPr>
            <a:r>
              <a:rPr dirty="0" spc="-300"/>
              <a:t>Logic</a:t>
            </a:r>
          </a:p>
          <a:p>
            <a:pPr marL="24765">
              <a:lnSpc>
                <a:spcPts val="4150"/>
              </a:lnSpc>
              <a:spcBef>
                <a:spcPts val="2150"/>
              </a:spcBef>
              <a:tabLst>
                <a:tab pos="5634355" algn="l"/>
                <a:tab pos="5987415" algn="l"/>
                <a:tab pos="6447155" algn="l"/>
              </a:tabLst>
            </a:pPr>
            <a:r>
              <a:rPr dirty="0" spc="-145">
                <a:latin typeface="Calibri"/>
                <a:cs typeface="Calibri"/>
              </a:rPr>
              <a:t>Condición:</a:t>
            </a:r>
            <a:r>
              <a:rPr dirty="0">
                <a:latin typeface="Calibri"/>
                <a:cs typeface="Calibri"/>
              </a:rPr>
              <a:t> Si</a:t>
            </a:r>
            <a:r>
              <a:rPr dirty="0" spc="-11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se</a:t>
            </a:r>
            <a:r>
              <a:rPr dirty="0" spc="-240">
                <a:latin typeface="Calibri"/>
                <a:cs typeface="Calibri"/>
              </a:rPr>
              <a:t> </a:t>
            </a:r>
            <a:r>
              <a:rPr dirty="0" spc="-175">
                <a:latin typeface="Calibri"/>
                <a:cs typeface="Calibri"/>
              </a:rPr>
              <a:t>detecta</a:t>
            </a:r>
            <a:r>
              <a:rPr dirty="0" spc="-85">
                <a:latin typeface="Calibri"/>
                <a:cs typeface="Calibri"/>
              </a:rPr>
              <a:t> </a:t>
            </a:r>
            <a:r>
              <a:rPr dirty="0" spc="-180">
                <a:latin typeface="Calibri"/>
                <a:cs typeface="Calibri"/>
              </a:rPr>
              <a:t>que</a:t>
            </a:r>
            <a:r>
              <a:rPr dirty="0" spc="85">
                <a:latin typeface="Calibri"/>
                <a:cs typeface="Calibri"/>
              </a:rPr>
              <a:t> </a:t>
            </a:r>
            <a:r>
              <a:rPr dirty="0" spc="-50" i="1">
                <a:latin typeface="Calibri"/>
                <a:cs typeface="Calibri"/>
              </a:rPr>
              <a:t>S</a:t>
            </a:r>
            <a:r>
              <a:rPr dirty="0" i="1">
                <a:latin typeface="Calibri"/>
                <a:cs typeface="Calibri"/>
              </a:rPr>
              <a:t>	</a:t>
            </a:r>
            <a:r>
              <a:rPr dirty="0" baseline="-5185" sz="5625" spc="-675">
                <a:latin typeface="Calibri"/>
                <a:cs typeface="Calibri"/>
              </a:rPr>
              <a:t>2</a:t>
            </a:r>
            <a:r>
              <a:rPr dirty="0" baseline="-5185" sz="5625">
                <a:latin typeface="Calibri"/>
                <a:cs typeface="Calibri"/>
              </a:rPr>
              <a:t>	</a:t>
            </a:r>
            <a:r>
              <a:rPr dirty="0" baseline="-5185" sz="5625" spc="-667">
                <a:latin typeface="Calibri"/>
                <a:cs typeface="Calibri"/>
              </a:rPr>
              <a:t>&lt;</a:t>
            </a:r>
            <a:r>
              <a:rPr dirty="0" baseline="-5185" sz="5625">
                <a:latin typeface="Calibri"/>
                <a:cs typeface="Calibri"/>
              </a:rPr>
              <a:t>	</a:t>
            </a:r>
            <a:r>
              <a:rPr dirty="0" baseline="5185" sz="5625" spc="112" i="1">
                <a:latin typeface="Calibri"/>
                <a:cs typeface="Calibri"/>
              </a:rPr>
              <a:t>S</a:t>
            </a:r>
            <a:r>
              <a:rPr dirty="0" baseline="-2222" sz="5625" spc="112" i="1">
                <a:latin typeface="Calibri"/>
                <a:cs typeface="Calibri"/>
              </a:rPr>
              <a:t>u,</a:t>
            </a:r>
            <a:endParaRPr baseline="-2222" sz="5625">
              <a:latin typeface="Calibri"/>
              <a:cs typeface="Calibri"/>
            </a:endParaRPr>
          </a:p>
          <a:p>
            <a:pPr marL="26034">
              <a:lnSpc>
                <a:spcPts val="3970"/>
              </a:lnSpc>
              <a:tabLst>
                <a:tab pos="5202555" algn="l"/>
                <a:tab pos="5987415" algn="l"/>
              </a:tabLst>
            </a:pPr>
            <a:r>
              <a:rPr dirty="0" sz="3600" spc="-40">
                <a:latin typeface="Calibri"/>
                <a:cs typeface="Calibri"/>
              </a:rPr>
              <a:t>forzamos</a:t>
            </a:r>
            <a:r>
              <a:rPr dirty="0" sz="3600" spc="-13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la</a:t>
            </a:r>
            <a:r>
              <a:rPr dirty="0" sz="3600" spc="-220">
                <a:latin typeface="Calibri"/>
                <a:cs typeface="Calibri"/>
              </a:rPr>
              <a:t> </a:t>
            </a:r>
            <a:r>
              <a:rPr dirty="0" sz="3600" spc="-150">
                <a:latin typeface="Calibri"/>
                <a:cs typeface="Calibri"/>
              </a:rPr>
              <a:t>apertura:</a:t>
            </a:r>
            <a:r>
              <a:rPr dirty="0" sz="3600" spc="40">
                <a:latin typeface="Calibri"/>
                <a:cs typeface="Calibri"/>
              </a:rPr>
              <a:t> </a:t>
            </a:r>
            <a:r>
              <a:rPr dirty="0" baseline="3858" sz="5400" spc="187">
                <a:latin typeface="Calibri"/>
                <a:cs typeface="Calibri"/>
              </a:rPr>
              <a:t>SI</a:t>
            </a:r>
            <a:r>
              <a:rPr dirty="0" baseline="-3858" sz="5400" spc="187">
                <a:latin typeface="Calibri"/>
                <a:cs typeface="Calibri"/>
              </a:rPr>
              <a:t>’2</a:t>
            </a:r>
            <a:r>
              <a:rPr dirty="0" baseline="-3858" sz="5400">
                <a:latin typeface="Calibri"/>
                <a:cs typeface="Calibri"/>
              </a:rPr>
              <a:t>	</a:t>
            </a:r>
            <a:r>
              <a:rPr dirty="0" sz="3600" spc="-25" i="1">
                <a:latin typeface="Calibri"/>
                <a:cs typeface="Calibri"/>
              </a:rPr>
              <a:t>Syd</a:t>
            </a:r>
            <a:r>
              <a:rPr dirty="0" sz="3600" i="1">
                <a:latin typeface="Calibri"/>
                <a:cs typeface="Calibri"/>
              </a:rPr>
              <a:t>	</a:t>
            </a:r>
            <a:r>
              <a:rPr dirty="0" sz="3600" spc="-225" i="1">
                <a:latin typeface="Calibri"/>
                <a:cs typeface="Calibri"/>
              </a:rPr>
              <a:t>-</a:t>
            </a:r>
            <a:r>
              <a:rPr dirty="0" sz="3600" spc="-45" i="1">
                <a:latin typeface="Calibri"/>
                <a:cs typeface="Calibri"/>
              </a:rPr>
              <a:t>i-</a:t>
            </a:r>
            <a:r>
              <a:rPr dirty="0" sz="3600" spc="-155" i="1">
                <a:latin typeface="Calibri"/>
                <a:cs typeface="Calibri"/>
              </a:rPr>
              <a:t> </a:t>
            </a:r>
            <a:r>
              <a:rPr dirty="0" sz="3600" spc="75" i="1">
                <a:latin typeface="Calibri"/>
                <a:cs typeface="Calibri"/>
              </a:rPr>
              <a:t>c.</a:t>
            </a:r>
            <a:endParaRPr sz="3600">
              <a:latin typeface="Calibri"/>
              <a:cs typeface="Calibri"/>
            </a:endParaRPr>
          </a:p>
          <a:p>
            <a:pPr marL="24130">
              <a:lnSpc>
                <a:spcPts val="3804"/>
              </a:lnSpc>
              <a:spcBef>
                <a:spcPts val="3329"/>
              </a:spcBef>
            </a:pPr>
            <a:r>
              <a:rPr dirty="0" sz="3300" spc="140">
                <a:latin typeface="Calibri"/>
                <a:cs typeface="Calibri"/>
              </a:rPr>
              <a:t>Los</a:t>
            </a:r>
            <a:r>
              <a:rPr dirty="0" sz="3300" spc="195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nuevos</a:t>
            </a:r>
            <a:r>
              <a:rPr dirty="0" sz="3300" spc="210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parámetros</a:t>
            </a:r>
            <a:r>
              <a:rPr dirty="0" sz="3300" spc="430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de</a:t>
            </a:r>
            <a:r>
              <a:rPr dirty="0" sz="3300" spc="185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forma</a:t>
            </a:r>
            <a:r>
              <a:rPr dirty="0" sz="3300" spc="65">
                <a:latin typeface="Calibri"/>
                <a:cs typeface="Calibri"/>
              </a:rPr>
              <a:t> </a:t>
            </a:r>
            <a:r>
              <a:rPr dirty="0" sz="3300" spc="155">
                <a:latin typeface="Calibri"/>
                <a:cs typeface="Calibri"/>
              </a:rPr>
              <a:t>se</a:t>
            </a:r>
            <a:r>
              <a:rPr dirty="0" sz="3300" spc="35">
                <a:latin typeface="Calibri"/>
                <a:cs typeface="Calibri"/>
              </a:rPr>
              <a:t> </a:t>
            </a:r>
            <a:r>
              <a:rPr dirty="0" sz="3300" spc="-10">
                <a:latin typeface="Calibri"/>
                <a:cs typeface="Calibri"/>
              </a:rPr>
              <a:t>derivan</a:t>
            </a:r>
            <a:endParaRPr sz="3300">
              <a:latin typeface="Calibri"/>
              <a:cs typeface="Calibri"/>
            </a:endParaRPr>
          </a:p>
          <a:p>
            <a:pPr marL="27940">
              <a:lnSpc>
                <a:spcPts val="3925"/>
              </a:lnSpc>
            </a:pPr>
            <a:r>
              <a:rPr dirty="0" sz="3400" spc="-10">
                <a:latin typeface="Calibri"/>
                <a:cs typeface="Calibri"/>
              </a:rPr>
              <a:t>analíticamente:</a:t>
            </a:r>
            <a:endParaRPr sz="3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65"/>
              </a:spcBef>
            </a:pPr>
            <a:endParaRPr sz="3400">
              <a:latin typeface="Calibri"/>
              <a:cs typeface="Calibri"/>
            </a:endParaRPr>
          </a:p>
          <a:p>
            <a:pPr algn="ctr" marL="4445">
              <a:lnSpc>
                <a:spcPct val="100000"/>
              </a:lnSpc>
              <a:spcBef>
                <a:spcPts val="5"/>
              </a:spcBef>
              <a:tabLst>
                <a:tab pos="869950" algn="l"/>
                <a:tab pos="1933575" algn="l"/>
              </a:tabLst>
            </a:pPr>
            <a:r>
              <a:rPr dirty="0" baseline="1481" sz="5625" spc="-75"/>
              <a:t>-</a:t>
            </a:r>
            <a:r>
              <a:rPr dirty="0" baseline="1481" sz="5625"/>
              <a:t>	</a:t>
            </a:r>
            <a:r>
              <a:rPr dirty="0" sz="3800" spc="110" i="1">
                <a:latin typeface="Cambria"/>
                <a:cs typeface="Cambria"/>
              </a:rPr>
              <a:t>Sp</a:t>
            </a:r>
            <a:r>
              <a:rPr dirty="0" sz="3800" spc="-60" i="1">
                <a:latin typeface="Cambria"/>
                <a:cs typeface="Cambria"/>
              </a:rPr>
              <a:t> </a:t>
            </a:r>
            <a:r>
              <a:rPr dirty="0" sz="3800" spc="70" i="1">
                <a:latin typeface="Cambria"/>
                <a:cs typeface="Cambria"/>
              </a:rPr>
              <a:t>+</a:t>
            </a:r>
            <a:r>
              <a:rPr dirty="0" sz="3800" i="1">
                <a:latin typeface="Cambria"/>
                <a:cs typeface="Cambria"/>
              </a:rPr>
              <a:t>	</a:t>
            </a:r>
            <a:r>
              <a:rPr dirty="0" sz="3800" spc="-25" i="1">
                <a:latin typeface="Cambria"/>
                <a:cs typeface="Cambria"/>
              </a:rPr>
              <a:t>5z</a:t>
            </a:r>
            <a:endParaRPr sz="3800">
              <a:latin typeface="Cambria"/>
              <a:cs typeface="Cambria"/>
            </a:endParaRPr>
          </a:p>
          <a:p>
            <a:pPr algn="ctr" marL="899794">
              <a:lnSpc>
                <a:spcPct val="100000"/>
              </a:lnSpc>
              <a:spcBef>
                <a:spcPts val="290"/>
              </a:spcBef>
            </a:pPr>
            <a:r>
              <a:rPr dirty="0" sz="3550" spc="-50">
                <a:latin typeface="Cambria"/>
                <a:cs typeface="Cambria"/>
              </a:rPr>
              <a:t>2</a:t>
            </a:r>
            <a:endParaRPr sz="3550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776883" y="2398183"/>
            <a:ext cx="6659245" cy="4749800"/>
          </a:xfrm>
          <a:prstGeom prst="rect">
            <a:avLst/>
          </a:prstGeom>
          <a:ln w="21166">
            <a:solidFill>
              <a:srgbClr val="34342F"/>
            </a:solidFill>
          </a:ln>
        </p:spPr>
        <p:txBody>
          <a:bodyPr wrap="square" lIns="0" tIns="116205" rIns="0" bIns="0" rtlCol="0" vert="horz">
            <a:spAutoFit/>
          </a:bodyPr>
          <a:lstStyle/>
          <a:p>
            <a:pPr marL="1918335" indent="-149225">
              <a:lnSpc>
                <a:spcPct val="100000"/>
              </a:lnSpc>
              <a:spcBef>
                <a:spcPts val="915"/>
              </a:spcBef>
              <a:buClr>
                <a:srgbClr val="B82123"/>
              </a:buClr>
              <a:buChar char="•"/>
              <a:tabLst>
                <a:tab pos="1918335" algn="l"/>
                <a:tab pos="2567940" algn="l"/>
              </a:tabLst>
            </a:pPr>
            <a:r>
              <a:rPr dirty="0" sz="2150" spc="-280">
                <a:solidFill>
                  <a:srgbClr val="B11A1C"/>
                </a:solidFill>
                <a:latin typeface="Calibri"/>
                <a:cs typeface="Calibri"/>
              </a:rPr>
              <a:t>•</a:t>
            </a:r>
            <a:r>
              <a:rPr dirty="0" sz="2150" spc="-280">
                <a:solidFill>
                  <a:srgbClr val="B81616"/>
                </a:solidFill>
                <a:latin typeface="Calibri"/>
                <a:cs typeface="Calibri"/>
              </a:rPr>
              <a:t>•</a:t>
            </a:r>
            <a:r>
              <a:rPr dirty="0" sz="2150" spc="-280">
                <a:solidFill>
                  <a:srgbClr val="AC1F23"/>
                </a:solidFill>
                <a:latin typeface="Calibri"/>
                <a:cs typeface="Calibri"/>
              </a:rPr>
              <a:t>•</a:t>
            </a:r>
            <a:r>
              <a:rPr dirty="0" sz="2150" spc="-280">
                <a:solidFill>
                  <a:srgbClr val="BA2626"/>
                </a:solidFill>
                <a:latin typeface="Calibri"/>
                <a:cs typeface="Calibri"/>
              </a:rPr>
              <a:t>•</a:t>
            </a:r>
            <a:r>
              <a:rPr dirty="0" sz="2150">
                <a:solidFill>
                  <a:srgbClr val="BA2626"/>
                </a:solidFill>
                <a:latin typeface="Calibri"/>
                <a:cs typeface="Calibri"/>
              </a:rPr>
              <a:t>	</a:t>
            </a:r>
            <a:r>
              <a:rPr dirty="0" sz="2150" spc="55">
                <a:latin typeface="Calibri"/>
                <a:cs typeface="Calibri"/>
              </a:rPr>
              <a:t>Ghost</a:t>
            </a:r>
            <a:r>
              <a:rPr dirty="0" sz="2150" spc="130">
                <a:latin typeface="Calibri"/>
                <a:cs typeface="Calibri"/>
              </a:rPr>
              <a:t> </a:t>
            </a:r>
            <a:r>
              <a:rPr dirty="0" sz="2150" spc="45">
                <a:latin typeface="Calibri"/>
                <a:cs typeface="Calibri"/>
              </a:rPr>
              <a:t>Curve</a:t>
            </a:r>
            <a:endParaRPr sz="2150">
              <a:latin typeface="Calibri"/>
              <a:cs typeface="Calibri"/>
            </a:endParaRPr>
          </a:p>
          <a:p>
            <a:pPr algn="ctr" marL="398145">
              <a:lnSpc>
                <a:spcPct val="100000"/>
              </a:lnSpc>
              <a:spcBef>
                <a:spcPts val="320"/>
              </a:spcBef>
            </a:pPr>
            <a:r>
              <a:rPr dirty="0" sz="2150" spc="-35">
                <a:latin typeface="Arial MT"/>
                <a:cs typeface="Arial MT"/>
              </a:rPr>
              <a:t>Corrected</a:t>
            </a:r>
            <a:r>
              <a:rPr dirty="0" sz="2150" spc="-75">
                <a:latin typeface="Arial MT"/>
                <a:cs typeface="Arial MT"/>
              </a:rPr>
              <a:t> </a:t>
            </a:r>
            <a:r>
              <a:rPr dirty="0" sz="2150" spc="-10">
                <a:latin typeface="Arial MT"/>
                <a:cs typeface="Arial MT"/>
              </a:rPr>
              <a:t>Curve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009457" y="7096795"/>
            <a:ext cx="6931025" cy="1900555"/>
          </a:xfrm>
          <a:prstGeom prst="rect">
            <a:avLst/>
          </a:prstGeom>
        </p:spPr>
        <p:txBody>
          <a:bodyPr wrap="square" lIns="0" tIns="224790" rIns="0" bIns="0" rtlCol="0" vert="horz">
            <a:spAutoFit/>
          </a:bodyPr>
          <a:lstStyle/>
          <a:p>
            <a:pPr marL="3235960">
              <a:lnSpc>
                <a:spcPct val="100000"/>
              </a:lnSpc>
              <a:spcBef>
                <a:spcPts val="1770"/>
              </a:spcBef>
            </a:pPr>
            <a:r>
              <a:rPr dirty="0" sz="2400" spc="-75">
                <a:latin typeface="Arial MT"/>
                <a:cs typeface="Arial MT"/>
              </a:rPr>
              <a:t>Log-</a:t>
            </a:r>
            <a:r>
              <a:rPr dirty="0" sz="2400" spc="-10">
                <a:latin typeface="Arial MT"/>
                <a:cs typeface="Arial MT"/>
              </a:rPr>
              <a:t>Strike</a:t>
            </a:r>
            <a:r>
              <a:rPr dirty="0" sz="2400" spc="1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(k)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400">
              <a:latin typeface="Arial MT"/>
              <a:cs typeface="Arial MT"/>
            </a:endParaRPr>
          </a:p>
          <a:p>
            <a:pPr marL="12700" marR="5080" indent="4445">
              <a:lnSpc>
                <a:spcPts val="3700"/>
              </a:lnSpc>
            </a:pPr>
            <a:r>
              <a:rPr dirty="0" sz="3450" spc="110">
                <a:latin typeface="Calibri"/>
                <a:cs typeface="Calibri"/>
              </a:rPr>
              <a:t>Se</a:t>
            </a:r>
            <a:r>
              <a:rPr dirty="0" sz="3450" spc="-185">
                <a:latin typeface="Calibri"/>
                <a:cs typeface="Calibri"/>
              </a:rPr>
              <a:t> </a:t>
            </a:r>
            <a:r>
              <a:rPr dirty="0" sz="3450">
                <a:latin typeface="Calibri"/>
                <a:cs typeface="Calibri"/>
              </a:rPr>
              <a:t>ajusta</a:t>
            </a:r>
            <a:r>
              <a:rPr dirty="0" sz="3450" spc="25">
                <a:latin typeface="Calibri"/>
                <a:cs typeface="Calibri"/>
              </a:rPr>
              <a:t> </a:t>
            </a:r>
            <a:r>
              <a:rPr dirty="0" sz="3450" spc="-20">
                <a:latin typeface="Calibri"/>
                <a:cs typeface="Calibri"/>
              </a:rPr>
              <a:t>el</a:t>
            </a:r>
            <a:r>
              <a:rPr dirty="0" sz="3450" spc="-175">
                <a:latin typeface="Calibri"/>
                <a:cs typeface="Calibri"/>
              </a:rPr>
              <a:t> </a:t>
            </a:r>
            <a:r>
              <a:rPr dirty="0" sz="3450" spc="-10">
                <a:latin typeface="Calibri"/>
                <a:cs typeface="Calibri"/>
              </a:rPr>
              <a:t>nivel</a:t>
            </a:r>
            <a:r>
              <a:rPr dirty="0" sz="3450" spc="70">
                <a:latin typeface="Calibri"/>
                <a:cs typeface="Calibri"/>
              </a:rPr>
              <a:t> </a:t>
            </a:r>
            <a:r>
              <a:rPr dirty="0" sz="3450" spc="160">
                <a:latin typeface="Calibri"/>
                <a:cs typeface="Calibri"/>
              </a:rPr>
              <a:t>o</a:t>
            </a:r>
            <a:r>
              <a:rPr dirty="0" sz="3450" spc="-130">
                <a:latin typeface="Calibri"/>
                <a:cs typeface="Calibri"/>
              </a:rPr>
              <a:t> </a:t>
            </a:r>
            <a:r>
              <a:rPr dirty="0" sz="3450" spc="90">
                <a:latin typeface="Calibri"/>
                <a:cs typeface="Calibri"/>
              </a:rPr>
              <a:t>si</a:t>
            </a:r>
            <a:r>
              <a:rPr dirty="0" sz="3450" spc="-120">
                <a:latin typeface="Calibri"/>
                <a:cs typeface="Calibri"/>
              </a:rPr>
              <a:t> </a:t>
            </a:r>
            <a:r>
              <a:rPr dirty="0" sz="3450" spc="135">
                <a:latin typeface="Calibri"/>
                <a:cs typeface="Calibri"/>
              </a:rPr>
              <a:t>es</a:t>
            </a:r>
            <a:r>
              <a:rPr dirty="0" sz="3450" spc="-190">
                <a:latin typeface="Calibri"/>
                <a:cs typeface="Calibri"/>
              </a:rPr>
              <a:t> </a:t>
            </a:r>
            <a:r>
              <a:rPr dirty="0" sz="3450">
                <a:latin typeface="Calibri"/>
                <a:cs typeface="Calibri"/>
              </a:rPr>
              <a:t>necesario</a:t>
            </a:r>
            <a:r>
              <a:rPr dirty="0" sz="3450" spc="70">
                <a:latin typeface="Calibri"/>
                <a:cs typeface="Calibri"/>
              </a:rPr>
              <a:t> </a:t>
            </a:r>
            <a:r>
              <a:rPr dirty="0" sz="3450" spc="-20">
                <a:latin typeface="Calibri"/>
                <a:cs typeface="Calibri"/>
              </a:rPr>
              <a:t>para </a:t>
            </a:r>
            <a:r>
              <a:rPr dirty="0" sz="3450" spc="-70">
                <a:latin typeface="Calibri"/>
                <a:cs typeface="Calibri"/>
              </a:rPr>
              <a:t>mantener</a:t>
            </a:r>
            <a:r>
              <a:rPr dirty="0" sz="3450" spc="105">
                <a:latin typeface="Calibri"/>
                <a:cs typeface="Calibri"/>
              </a:rPr>
              <a:t> </a:t>
            </a:r>
            <a:r>
              <a:rPr dirty="0" sz="3450">
                <a:latin typeface="Calibri"/>
                <a:cs typeface="Calibri"/>
              </a:rPr>
              <a:t>consistencia</a:t>
            </a:r>
            <a:r>
              <a:rPr dirty="0" sz="3450" spc="85">
                <a:latin typeface="Calibri"/>
                <a:cs typeface="Calibri"/>
              </a:rPr>
              <a:t> </a:t>
            </a:r>
            <a:r>
              <a:rPr dirty="0" sz="3450" spc="-10">
                <a:latin typeface="Calibri"/>
                <a:cs typeface="Calibri"/>
              </a:rPr>
              <a:t>vertical.</a:t>
            </a:r>
            <a:endParaRPr sz="345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6106444" y="9422341"/>
            <a:ext cx="1231265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>
                <a:latin typeface="Arial MT"/>
                <a:cs typeface="Arial MT"/>
              </a:rPr>
              <a:t>G</a:t>
            </a:r>
            <a:r>
              <a:rPr dirty="0" sz="1450" spc="425">
                <a:latin typeface="Arial MT"/>
                <a:cs typeface="Arial MT"/>
              </a:rPr>
              <a:t> </a:t>
            </a:r>
            <a:r>
              <a:rPr dirty="0" sz="1450" spc="-75">
                <a:latin typeface="Arial MT"/>
                <a:cs typeface="Arial MT"/>
              </a:rPr>
              <a:t>NotebookLM</a:t>
            </a:r>
            <a:endParaRPr sz="1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63600" y="3098800"/>
            <a:ext cx="15748000" cy="4851400"/>
            <a:chOff x="863600" y="3098800"/>
            <a:chExt cx="15748000" cy="48514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3600" y="3098800"/>
              <a:ext cx="15748000" cy="48514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65800" y="3937000"/>
              <a:ext cx="76200" cy="30480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63400" y="5930900"/>
              <a:ext cx="520700" cy="38100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29200" y="5930900"/>
              <a:ext cx="406400" cy="41910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35418" y="457552"/>
            <a:ext cx="13482319" cy="10312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600" spc="-210"/>
              <a:t>Estrategia</a:t>
            </a:r>
            <a:r>
              <a:rPr dirty="0" sz="6600" spc="-250"/>
              <a:t> </a:t>
            </a:r>
            <a:r>
              <a:rPr dirty="0" sz="6600" spc="-155"/>
              <a:t>de</a:t>
            </a:r>
            <a:r>
              <a:rPr dirty="0" sz="6600" spc="-555"/>
              <a:t> </a:t>
            </a:r>
            <a:r>
              <a:rPr dirty="0" sz="6600" spc="-140"/>
              <a:t>Corrección</a:t>
            </a:r>
            <a:r>
              <a:rPr dirty="0" sz="6600" spc="-170"/>
              <a:t> </a:t>
            </a:r>
            <a:r>
              <a:rPr dirty="0" sz="6600" spc="-95"/>
              <a:t>Bidireccional</a:t>
            </a:r>
            <a:endParaRPr sz="6600"/>
          </a:p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5875">
              <a:lnSpc>
                <a:spcPts val="1555"/>
              </a:lnSpc>
            </a:pPr>
            <a:r>
              <a:rPr dirty="0" sz="1300">
                <a:latin typeface="Arial MT"/>
                <a:cs typeface="Arial MT"/>
              </a:rPr>
              <a:t>W</a:t>
            </a:r>
            <a:r>
              <a:rPr dirty="0" sz="1300" spc="32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NotebaokLM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52705" y="1682397"/>
            <a:ext cx="14443075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>
                <a:latin typeface="Calibri"/>
                <a:cs typeface="Calibri"/>
              </a:rPr>
              <a:t>Para</a:t>
            </a:r>
            <a:r>
              <a:rPr dirty="0" sz="3400" spc="-14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minimizar</a:t>
            </a:r>
            <a:r>
              <a:rPr dirty="0" sz="3400" spc="6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el</a:t>
            </a:r>
            <a:r>
              <a:rPr dirty="0" sz="3400" spc="-8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impacto</a:t>
            </a:r>
            <a:r>
              <a:rPr dirty="0" sz="3400" spc="3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en</a:t>
            </a:r>
            <a:r>
              <a:rPr dirty="0" sz="3400" spc="-5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el</a:t>
            </a:r>
            <a:r>
              <a:rPr dirty="0" sz="3400" spc="-114">
                <a:latin typeface="Calibri"/>
                <a:cs typeface="Calibri"/>
              </a:rPr>
              <a:t> </a:t>
            </a:r>
            <a:r>
              <a:rPr dirty="0" sz="3400" spc="-20">
                <a:latin typeface="Calibri"/>
                <a:cs typeface="Calibri"/>
              </a:rPr>
              <a:t>mercado,</a:t>
            </a:r>
            <a:r>
              <a:rPr dirty="0" sz="3400" spc="5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ejecutamos</a:t>
            </a:r>
            <a:r>
              <a:rPr dirty="0" sz="3400" spc="9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dos</a:t>
            </a:r>
            <a:r>
              <a:rPr dirty="0" sz="3400" spc="40">
                <a:latin typeface="Calibri"/>
                <a:cs typeface="Calibri"/>
              </a:rPr>
              <a:t> </a:t>
            </a:r>
            <a:r>
              <a:rPr dirty="0" sz="3400" spc="-25">
                <a:latin typeface="Calibri"/>
                <a:cs typeface="Calibri"/>
              </a:rPr>
              <a:t>trayectorias</a:t>
            </a:r>
            <a:r>
              <a:rPr dirty="0" sz="3400" spc="14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en</a:t>
            </a:r>
            <a:r>
              <a:rPr dirty="0" sz="3400" spc="-90">
                <a:latin typeface="Calibri"/>
                <a:cs typeface="Calibri"/>
              </a:rPr>
              <a:t> </a:t>
            </a:r>
            <a:r>
              <a:rPr dirty="0" sz="3400" spc="-10">
                <a:latin typeface="Calibri"/>
                <a:cs typeface="Calibri"/>
              </a:rPr>
              <a:t>paralelo: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359225" y="5144558"/>
            <a:ext cx="1416685" cy="102235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12700" marR="5080" indent="203200">
              <a:lnSpc>
                <a:spcPts val="3600"/>
              </a:lnSpc>
              <a:spcBef>
                <a:spcPts val="760"/>
              </a:spcBef>
            </a:pPr>
            <a:r>
              <a:rPr dirty="0" sz="3550" spc="-10">
                <a:latin typeface="Calibri"/>
                <a:cs typeface="Calibri"/>
              </a:rPr>
              <a:t>Datos </a:t>
            </a:r>
            <a:r>
              <a:rPr dirty="0" sz="3550" spc="-80">
                <a:latin typeface="Calibri"/>
                <a:cs typeface="Calibri"/>
              </a:rPr>
              <a:t>Iniciales</a:t>
            </a:r>
            <a:endParaRPr sz="355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426997" y="3723216"/>
            <a:ext cx="6592570" cy="5334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1490345" algn="l"/>
              </a:tabLst>
            </a:pPr>
            <a:r>
              <a:rPr dirty="0" baseline="1709" sz="4875" spc="-157">
                <a:latin typeface="Arial MT"/>
                <a:cs typeface="Arial MT"/>
              </a:rPr>
              <a:t>Fi'ar</a:t>
            </a:r>
            <a:r>
              <a:rPr dirty="0" baseline="1709" sz="4875" spc="-172">
                <a:latin typeface="Arial MT"/>
                <a:cs typeface="Arial MT"/>
              </a:rPr>
              <a:t> </a:t>
            </a:r>
            <a:r>
              <a:rPr dirty="0" baseline="1709" sz="4875" spc="-37">
                <a:latin typeface="Arial MT"/>
                <a:cs typeface="Arial MT"/>
              </a:rPr>
              <a:t>7'</a:t>
            </a:r>
            <a:r>
              <a:rPr dirty="0" baseline="-10101" sz="4125" spc="-37">
                <a:latin typeface="Arial MT"/>
                <a:cs typeface="Arial MT"/>
              </a:rPr>
              <a:t>0</a:t>
            </a:r>
            <a:r>
              <a:rPr dirty="0" baseline="-10101" sz="4125">
                <a:latin typeface="Arial MT"/>
                <a:cs typeface="Arial MT"/>
              </a:rPr>
              <a:t>	</a:t>
            </a:r>
            <a:r>
              <a:rPr dirty="0" sz="3300" spc="-114">
                <a:latin typeface="Arial MT"/>
                <a:cs typeface="Arial MT"/>
              </a:rPr>
              <a:t>corregir</a:t>
            </a:r>
            <a:r>
              <a:rPr dirty="0" sz="3300" spc="-35">
                <a:latin typeface="Arial MT"/>
                <a:cs typeface="Arial MT"/>
              </a:rPr>
              <a:t> </a:t>
            </a:r>
            <a:r>
              <a:rPr dirty="0" baseline="-6734" sz="4950" spc="217">
                <a:latin typeface="Arial MT"/>
                <a:cs typeface="Arial MT"/>
              </a:rPr>
              <a:t>*i...</a:t>
            </a:r>
            <a:r>
              <a:rPr dirty="0" baseline="1683" sz="4950" spc="217">
                <a:latin typeface="Arial MT"/>
                <a:cs typeface="Arial MT"/>
              </a:rPr>
              <a:t>y</a:t>
            </a:r>
            <a:r>
              <a:rPr dirty="0" baseline="1683" sz="4950" spc="427">
                <a:latin typeface="Arial MT"/>
                <a:cs typeface="Arial MT"/>
              </a:rPr>
              <a:t> </a:t>
            </a:r>
            <a:r>
              <a:rPr dirty="0" sz="3300" spc="-145">
                <a:latin typeface="Arial MT"/>
                <a:cs typeface="Arial MT"/>
              </a:rPr>
              <a:t>hacia</a:t>
            </a:r>
            <a:r>
              <a:rPr dirty="0" sz="3300" spc="-30">
                <a:latin typeface="Arial MT"/>
                <a:cs typeface="Arial MT"/>
              </a:rPr>
              <a:t> </a:t>
            </a:r>
            <a:r>
              <a:rPr dirty="0" sz="3300" spc="-100">
                <a:latin typeface="Arial MT"/>
                <a:cs typeface="Arial MT"/>
              </a:rPr>
              <a:t>el</a:t>
            </a:r>
            <a:r>
              <a:rPr dirty="0" sz="3300" spc="-130">
                <a:latin typeface="Arial MT"/>
                <a:cs typeface="Arial MT"/>
              </a:rPr>
              <a:t> </a:t>
            </a:r>
            <a:r>
              <a:rPr dirty="0" sz="3300" spc="-20">
                <a:latin typeface="Arial MT"/>
                <a:cs typeface="Arial MT"/>
              </a:rPr>
              <a:t>futuro.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4239696" y="3473097"/>
            <a:ext cx="2101215" cy="1005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3040">
              <a:lnSpc>
                <a:spcPts val="3765"/>
              </a:lnSpc>
              <a:spcBef>
                <a:spcPts val="100"/>
              </a:spcBef>
            </a:pPr>
            <a:r>
              <a:rPr dirty="0" sz="3400" spc="-95">
                <a:latin typeface="Arial MT"/>
                <a:cs typeface="Arial MT"/>
              </a:rPr>
              <a:t>Superficie</a:t>
            </a:r>
            <a:endParaRPr sz="3400">
              <a:latin typeface="Arial MT"/>
              <a:cs typeface="Arial MT"/>
            </a:endParaRPr>
          </a:p>
          <a:p>
            <a:pPr marL="12700">
              <a:lnSpc>
                <a:spcPts val="3945"/>
              </a:lnSpc>
            </a:pPr>
            <a:r>
              <a:rPr dirty="0" sz="3550" spc="-315">
                <a:latin typeface="Arial MT"/>
                <a:cs typeface="Arial MT"/>
              </a:rPr>
              <a:t>Candidata</a:t>
            </a:r>
            <a:r>
              <a:rPr dirty="0" sz="3550" spc="-25">
                <a:latin typeface="Arial MT"/>
                <a:cs typeface="Arial MT"/>
              </a:rPr>
              <a:t> </a:t>
            </a:r>
            <a:r>
              <a:rPr dirty="0" sz="3550" spc="-50">
                <a:latin typeface="Arial MT"/>
                <a:cs typeface="Arial MT"/>
              </a:rPr>
              <a:t>1</a:t>
            </a:r>
            <a:endParaRPr sz="355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145426" y="6542616"/>
            <a:ext cx="11223625" cy="199771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9291955">
              <a:lnSpc>
                <a:spcPts val="3704"/>
              </a:lnSpc>
              <a:spcBef>
                <a:spcPts val="130"/>
              </a:spcBef>
            </a:pPr>
            <a:r>
              <a:rPr dirty="0" sz="3300" spc="-10">
                <a:latin typeface="Calibri"/>
                <a:cs typeface="Calibri"/>
              </a:rPr>
              <a:t>Superficie</a:t>
            </a:r>
            <a:endParaRPr sz="3300">
              <a:latin typeface="Calibri"/>
              <a:cs typeface="Calibri"/>
            </a:endParaRPr>
          </a:p>
          <a:p>
            <a:pPr marL="9108440">
              <a:lnSpc>
                <a:spcPts val="3885"/>
              </a:lnSpc>
            </a:pPr>
            <a:r>
              <a:rPr dirty="0" sz="3450" spc="-40">
                <a:latin typeface="Calibri"/>
                <a:cs typeface="Calibri"/>
              </a:rPr>
              <a:t>Candidata</a:t>
            </a:r>
            <a:r>
              <a:rPr dirty="0" sz="3450" spc="-125">
                <a:latin typeface="Calibri"/>
                <a:cs typeface="Calibri"/>
              </a:rPr>
              <a:t> </a:t>
            </a:r>
            <a:r>
              <a:rPr dirty="0" sz="3450" spc="70">
                <a:latin typeface="Calibri"/>
                <a:cs typeface="Calibri"/>
              </a:rPr>
              <a:t>2</a:t>
            </a:r>
            <a:endParaRPr sz="345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3760"/>
              </a:spcBef>
            </a:pPr>
            <a:r>
              <a:rPr dirty="0" sz="3450" spc="-250">
                <a:latin typeface="Arial MT"/>
                <a:cs typeface="Arial MT"/>
              </a:rPr>
              <a:t>Fijar</a:t>
            </a:r>
            <a:r>
              <a:rPr dirty="0" sz="3450" spc="-235">
                <a:latin typeface="Arial MT"/>
                <a:cs typeface="Arial MT"/>
              </a:rPr>
              <a:t> </a:t>
            </a:r>
            <a:r>
              <a:rPr dirty="0" baseline="4830" sz="5175" spc="179" i="1">
                <a:latin typeface="Arial"/>
                <a:cs typeface="Arial"/>
              </a:rPr>
              <a:t>T</a:t>
            </a:r>
            <a:r>
              <a:rPr dirty="0" baseline="-4830" sz="5175" spc="179" i="1">
                <a:latin typeface="Arial"/>
                <a:cs typeface="Arial"/>
              </a:rPr>
              <a:t>C</a:t>
            </a:r>
            <a:r>
              <a:rPr dirty="0" baseline="-4830" sz="5175" spc="284" i="1">
                <a:latin typeface="Arial"/>
                <a:cs typeface="Arial"/>
              </a:rPr>
              <a:t> </a:t>
            </a:r>
            <a:r>
              <a:rPr dirty="0" sz="3450" spc="-204">
                <a:latin typeface="Arial MT"/>
                <a:cs typeface="Arial MT"/>
              </a:rPr>
              <a:t>corregir</a:t>
            </a:r>
            <a:r>
              <a:rPr dirty="0" sz="3450" spc="5">
                <a:latin typeface="Arial MT"/>
                <a:cs typeface="Arial MT"/>
              </a:rPr>
              <a:t> </a:t>
            </a:r>
            <a:r>
              <a:rPr dirty="0" baseline="1610" sz="5175" spc="-300">
                <a:latin typeface="Arial MT"/>
                <a:cs typeface="Arial MT"/>
              </a:rPr>
              <a:t>7'</a:t>
            </a:r>
            <a:r>
              <a:rPr dirty="0" baseline="-8051" sz="5175" spc="-300">
                <a:latin typeface="Arial MT"/>
                <a:cs typeface="Arial MT"/>
              </a:rPr>
              <a:t>P...0</a:t>
            </a:r>
            <a:r>
              <a:rPr dirty="0" sz="3450" spc="-200">
                <a:latin typeface="Arial MT"/>
                <a:cs typeface="Arial MT"/>
              </a:rPr>
              <a:t>hacia</a:t>
            </a:r>
            <a:r>
              <a:rPr dirty="0" sz="3450" spc="20">
                <a:latin typeface="Arial MT"/>
                <a:cs typeface="Arial MT"/>
              </a:rPr>
              <a:t> </a:t>
            </a:r>
            <a:r>
              <a:rPr dirty="0" sz="3450" spc="-225">
                <a:latin typeface="Arial MT"/>
                <a:cs typeface="Arial MT"/>
              </a:rPr>
              <a:t>el</a:t>
            </a:r>
            <a:r>
              <a:rPr dirty="0" sz="3450" spc="-114">
                <a:latin typeface="Arial MT"/>
                <a:cs typeface="Arial MT"/>
              </a:rPr>
              <a:t> </a:t>
            </a:r>
            <a:r>
              <a:rPr dirty="0" sz="3450" spc="-85">
                <a:latin typeface="Arial MT"/>
                <a:cs typeface="Arial MT"/>
              </a:rPr>
              <a:t>presente.</a:t>
            </a:r>
            <a:endParaRPr sz="3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0" y="1968500"/>
            <a:ext cx="11379200" cy="7188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0572" y="794102"/>
            <a:ext cx="10176510" cy="8407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350"/>
              <a:t>Criterio</a:t>
            </a:r>
            <a:r>
              <a:rPr dirty="0" sz="5350" spc="-375"/>
              <a:t> </a:t>
            </a:r>
            <a:r>
              <a:rPr dirty="0" sz="5350" spc="-190"/>
              <a:t>de</a:t>
            </a:r>
            <a:r>
              <a:rPr dirty="0" sz="5350" spc="-295"/>
              <a:t> </a:t>
            </a:r>
            <a:r>
              <a:rPr dirty="0" sz="5350" spc="-95"/>
              <a:t>Selección</a:t>
            </a:r>
            <a:r>
              <a:rPr dirty="0" sz="5350" spc="-165"/>
              <a:t> </a:t>
            </a:r>
            <a:r>
              <a:rPr dirty="0" sz="5350" spc="-30"/>
              <a:t>dei</a:t>
            </a:r>
            <a:r>
              <a:rPr dirty="0" sz="5350" spc="-340"/>
              <a:t> </a:t>
            </a:r>
            <a:r>
              <a:rPr dirty="0" sz="5350" spc="-10"/>
              <a:t>Algoritmo</a:t>
            </a:r>
            <a:endParaRPr sz="5350"/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5875">
              <a:lnSpc>
                <a:spcPts val="1555"/>
              </a:lnSpc>
            </a:pPr>
            <a:r>
              <a:rPr dirty="0" sz="1300">
                <a:latin typeface="Arial MT"/>
                <a:cs typeface="Arial MT"/>
              </a:rPr>
              <a:t>W</a:t>
            </a:r>
            <a:r>
              <a:rPr dirty="0" sz="1300" spc="32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NotebaokLM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993917" y="2239786"/>
            <a:ext cx="9422765" cy="523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250" spc="-100">
                <a:latin typeface="Arial MT"/>
                <a:cs typeface="Arial MT"/>
              </a:rPr>
              <a:t>Dos</a:t>
            </a:r>
            <a:r>
              <a:rPr dirty="0" sz="3250" spc="-125">
                <a:latin typeface="Arial MT"/>
                <a:cs typeface="Arial MT"/>
              </a:rPr>
              <a:t> </a:t>
            </a:r>
            <a:r>
              <a:rPr dirty="0" sz="3250" spc="-35">
                <a:latin typeface="Arial MT"/>
                <a:cs typeface="Arial MT"/>
              </a:rPr>
              <a:t>Candidatos</a:t>
            </a:r>
            <a:r>
              <a:rPr dirty="0" sz="3250" spc="-175">
                <a:latin typeface="Arial MT"/>
                <a:cs typeface="Arial MT"/>
              </a:rPr>
              <a:t> </a:t>
            </a:r>
            <a:r>
              <a:rPr dirty="0" sz="3250" spc="-55">
                <a:latin typeface="Arial MT"/>
                <a:cs typeface="Arial MT"/>
              </a:rPr>
              <a:t>de</a:t>
            </a:r>
            <a:r>
              <a:rPr dirty="0" sz="3250" spc="-170">
                <a:latin typeface="Arial MT"/>
                <a:cs typeface="Arial MT"/>
              </a:rPr>
              <a:t> </a:t>
            </a:r>
            <a:r>
              <a:rPr dirty="0" sz="3250">
                <a:latin typeface="Arial MT"/>
                <a:cs typeface="Arial MT"/>
              </a:rPr>
              <a:t>Superficie</a:t>
            </a:r>
            <a:r>
              <a:rPr dirty="0" sz="3250" spc="-90">
                <a:latin typeface="Arial MT"/>
                <a:cs typeface="Arial MT"/>
              </a:rPr>
              <a:t> </a:t>
            </a:r>
            <a:r>
              <a:rPr dirty="0" sz="3250" spc="-110">
                <a:latin typeface="Arial MT"/>
                <a:cs typeface="Arial MT"/>
              </a:rPr>
              <a:t>(Forward</a:t>
            </a:r>
            <a:r>
              <a:rPr dirty="0" sz="3250" spc="-35">
                <a:latin typeface="Arial MT"/>
                <a:cs typeface="Arial MT"/>
              </a:rPr>
              <a:t> </a:t>
            </a:r>
            <a:r>
              <a:rPr dirty="0" sz="3250" spc="-40">
                <a:latin typeface="Arial MT"/>
                <a:cs typeface="Arial MT"/>
              </a:rPr>
              <a:t>vs</a:t>
            </a:r>
            <a:r>
              <a:rPr dirty="0" sz="3250" spc="-160">
                <a:latin typeface="Arial MT"/>
                <a:cs typeface="Arial MT"/>
              </a:rPr>
              <a:t> </a:t>
            </a:r>
            <a:r>
              <a:rPr dirty="0" sz="3250" spc="-110">
                <a:latin typeface="Arial MT"/>
                <a:cs typeface="Arial MT"/>
              </a:rPr>
              <a:t>Backward)</a:t>
            </a:r>
            <a:endParaRPr sz="32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322203" y="4286250"/>
            <a:ext cx="678751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145">
                <a:latin typeface="Arial MT"/>
                <a:cs typeface="Arial MT"/>
              </a:rPr>
              <a:t>¿Cuál</a:t>
            </a:r>
            <a:r>
              <a:rPr dirty="0" sz="2500" spc="-30">
                <a:latin typeface="Arial MT"/>
                <a:cs typeface="Arial MT"/>
              </a:rPr>
              <a:t> </a:t>
            </a:r>
            <a:r>
              <a:rPr dirty="0" sz="2500" spc="-90">
                <a:latin typeface="Arial MT"/>
                <a:cs typeface="Arial MT"/>
              </a:rPr>
              <a:t>requiere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 spc="-55">
                <a:latin typeface="Arial MT"/>
                <a:cs typeface="Arial MT"/>
              </a:rPr>
              <a:t>corregir</a:t>
            </a:r>
            <a:r>
              <a:rPr dirty="0" sz="2500" spc="-120">
                <a:latin typeface="Arial MT"/>
                <a:cs typeface="Arial MT"/>
              </a:rPr>
              <a:t> </a:t>
            </a:r>
            <a:r>
              <a:rPr dirty="0" sz="2500" spc="-50">
                <a:latin typeface="Arial MT"/>
                <a:cs typeface="Arial MT"/>
              </a:rPr>
              <a:t>el</a:t>
            </a:r>
            <a:r>
              <a:rPr dirty="0" sz="2500" spc="-125">
                <a:latin typeface="Arial MT"/>
                <a:cs typeface="Arial MT"/>
              </a:rPr>
              <a:t> </a:t>
            </a:r>
            <a:r>
              <a:rPr dirty="0" sz="2500" spc="-75">
                <a:latin typeface="Arial MT"/>
                <a:cs typeface="Arial MT"/>
              </a:rPr>
              <a:t>menor</a:t>
            </a:r>
            <a:r>
              <a:rPr dirty="0" sz="2500" spc="-40">
                <a:latin typeface="Arial MT"/>
                <a:cs typeface="Arial MT"/>
              </a:rPr>
              <a:t> </a:t>
            </a:r>
            <a:r>
              <a:rPr dirty="0" sz="2500" spc="-75">
                <a:latin typeface="Arial MT"/>
                <a:cs typeface="Arial MT"/>
              </a:rPr>
              <a:t>número</a:t>
            </a:r>
            <a:r>
              <a:rPr dirty="0" sz="2500" spc="-20">
                <a:latin typeface="Arial MT"/>
                <a:cs typeface="Arial MT"/>
              </a:rPr>
              <a:t> </a:t>
            </a:r>
            <a:r>
              <a:rPr dirty="0" sz="2500" spc="-100">
                <a:latin typeface="Arial MT"/>
                <a:cs typeface="Arial MT"/>
              </a:rPr>
              <a:t>de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50">
                <a:latin typeface="Arial MT"/>
                <a:cs typeface="Arial MT"/>
              </a:rPr>
              <a:t>slices?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409087" y="6338711"/>
            <a:ext cx="6599555" cy="796290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1960245" marR="5080" indent="-1948180">
              <a:lnSpc>
                <a:spcPts val="2900"/>
              </a:lnSpc>
              <a:spcBef>
                <a:spcPts val="415"/>
              </a:spcBef>
            </a:pPr>
            <a:r>
              <a:rPr dirty="0" sz="2600" spc="-340">
                <a:latin typeface="Arial MT"/>
                <a:cs typeface="Arial MT"/>
              </a:rPr>
              <a:t>En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 spc="-120">
                <a:latin typeface="Arial MT"/>
                <a:cs typeface="Arial MT"/>
              </a:rPr>
              <a:t>caso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 spc="-155">
                <a:latin typeface="Arial MT"/>
                <a:cs typeface="Arial MT"/>
              </a:rPr>
              <a:t>de</a:t>
            </a:r>
            <a:r>
              <a:rPr dirty="0" sz="2600" spc="-145">
                <a:latin typeface="Arial MT"/>
                <a:cs typeface="Arial MT"/>
              </a:rPr>
              <a:t> </a:t>
            </a:r>
            <a:r>
              <a:rPr dirty="0" sz="2600" spc="-160">
                <a:latin typeface="Arial MT"/>
                <a:cs typeface="Arial MT"/>
              </a:rPr>
              <a:t>empate,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 spc="-85">
                <a:latin typeface="Arial MT"/>
                <a:cs typeface="Arial MT"/>
              </a:rPr>
              <a:t>minimizar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 spc="-330">
                <a:latin typeface="Arial MT"/>
                <a:cs typeface="Arial MT"/>
              </a:rPr>
              <a:t>RMSD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 spc="-120">
                <a:latin typeface="Arial MT"/>
                <a:cs typeface="Arial MT"/>
              </a:rPr>
              <a:t>(desviación) respecto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 spc="-335">
                <a:latin typeface="Arial MT"/>
                <a:cs typeface="Arial MT"/>
              </a:rPr>
              <a:t>a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mercado.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676999" y="8310739"/>
            <a:ext cx="4897755" cy="575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600" spc="-40">
                <a:latin typeface="Calibri"/>
                <a:cs typeface="Calibri"/>
              </a:rPr>
              <a:t>Superficie</a:t>
            </a:r>
            <a:r>
              <a:rPr dirty="0" sz="3600" spc="-12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Final</a:t>
            </a:r>
            <a:r>
              <a:rPr dirty="0" sz="3600" spc="-135">
                <a:latin typeface="Calibri"/>
                <a:cs typeface="Calibri"/>
              </a:rPr>
              <a:t> </a:t>
            </a:r>
            <a:r>
              <a:rPr dirty="0" sz="3600" spc="-85">
                <a:latin typeface="Calibri"/>
                <a:cs typeface="Calibri"/>
              </a:rPr>
              <a:t>Optimizada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1900" y="3225800"/>
            <a:ext cx="7581900" cy="41783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1700" y="711200"/>
            <a:ext cx="546100" cy="609600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4114800" y="3145367"/>
            <a:ext cx="9885045" cy="5363845"/>
            <a:chOff x="4114800" y="3145367"/>
            <a:chExt cx="9885045" cy="5363845"/>
          </a:xfrm>
        </p:grpSpPr>
        <p:sp>
          <p:nvSpPr>
            <p:cNvPr id="5" name="object 5" descr=""/>
            <p:cNvSpPr/>
            <p:nvPr/>
          </p:nvSpPr>
          <p:spPr>
            <a:xfrm>
              <a:off x="4129616" y="3145367"/>
              <a:ext cx="0" cy="5363845"/>
            </a:xfrm>
            <a:custGeom>
              <a:avLst/>
              <a:gdLst/>
              <a:ahLst/>
              <a:cxnLst/>
              <a:rect l="l" t="t" r="r" b="b"/>
              <a:pathLst>
                <a:path w="0" h="5363845">
                  <a:moveTo>
                    <a:pt x="0" y="53636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03030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114800" y="8494183"/>
              <a:ext cx="9885045" cy="0"/>
            </a:xfrm>
            <a:custGeom>
              <a:avLst/>
              <a:gdLst/>
              <a:ahLst/>
              <a:cxnLst/>
              <a:rect l="l" t="t" r="r" b="b"/>
              <a:pathLst>
                <a:path w="9885044" h="0">
                  <a:moveTo>
                    <a:pt x="0" y="0"/>
                  </a:moveTo>
                  <a:lnTo>
                    <a:pt x="9884833" y="0"/>
                  </a:lnTo>
                </a:path>
              </a:pathLst>
            </a:custGeom>
            <a:ln w="4233">
              <a:solidFill>
                <a:srgbClr val="03030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30600" y="6642100"/>
            <a:ext cx="292100" cy="2540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624623" y="481541"/>
            <a:ext cx="9991725" cy="10096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450" spc="-380"/>
              <a:t>Reto</a:t>
            </a:r>
            <a:r>
              <a:rPr dirty="0" sz="6450" spc="-325"/>
              <a:t> </a:t>
            </a:r>
            <a:r>
              <a:rPr dirty="0" sz="6450" spc="-290"/>
              <a:t>de</a:t>
            </a:r>
            <a:r>
              <a:rPr dirty="0" sz="6450" spc="-640"/>
              <a:t> </a:t>
            </a:r>
            <a:r>
              <a:rPr dirty="0" sz="6450" spc="-310"/>
              <a:t>Mercado:</a:t>
            </a:r>
            <a:r>
              <a:rPr dirty="0" sz="6450" spc="-145"/>
              <a:t> </a:t>
            </a:r>
            <a:r>
              <a:rPr dirty="0" sz="6450" spc="-210"/>
              <a:t>Sticky</a:t>
            </a:r>
            <a:r>
              <a:rPr dirty="0" sz="6450" spc="-300"/>
              <a:t> </a:t>
            </a:r>
            <a:r>
              <a:rPr dirty="0" sz="6450" spc="-320"/>
              <a:t>Delta</a:t>
            </a:r>
            <a:endParaRPr sz="6450"/>
          </a:p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5875">
              <a:lnSpc>
                <a:spcPts val="1555"/>
              </a:lnSpc>
            </a:pPr>
            <a:r>
              <a:rPr dirty="0" sz="1300">
                <a:latin typeface="Arial MT"/>
                <a:cs typeface="Arial MT"/>
              </a:rPr>
              <a:t>W</a:t>
            </a:r>
            <a:r>
              <a:rPr dirty="0" sz="1300" spc="32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NotebaokLM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54812" y="1682397"/>
            <a:ext cx="15687040" cy="1052195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17780" marR="5080" indent="-5715">
              <a:lnSpc>
                <a:spcPts val="4000"/>
              </a:lnSpc>
              <a:spcBef>
                <a:spcPts val="280"/>
              </a:spcBef>
            </a:pPr>
            <a:r>
              <a:rPr dirty="0" sz="3400" spc="-275">
                <a:latin typeface="Arial MT"/>
                <a:cs typeface="Arial MT"/>
              </a:rPr>
              <a:t>El</a:t>
            </a:r>
            <a:r>
              <a:rPr dirty="0" sz="3400" spc="15">
                <a:latin typeface="Arial MT"/>
                <a:cs typeface="Arial MT"/>
              </a:rPr>
              <a:t> </a:t>
            </a:r>
            <a:r>
              <a:rPr dirty="0" sz="3400" spc="-80">
                <a:latin typeface="Arial MT"/>
                <a:cs typeface="Arial MT"/>
              </a:rPr>
              <a:t>mercado</a:t>
            </a:r>
            <a:r>
              <a:rPr dirty="0" sz="3400" spc="-160">
                <a:latin typeface="Arial MT"/>
                <a:cs typeface="Arial MT"/>
              </a:rPr>
              <a:t> </a:t>
            </a:r>
            <a:r>
              <a:rPr dirty="0" sz="3400" spc="-330">
                <a:latin typeface="Arial MT"/>
                <a:cs typeface="Arial MT"/>
              </a:rPr>
              <a:t>FX</a:t>
            </a:r>
            <a:r>
              <a:rPr dirty="0" sz="3400" spc="95">
                <a:latin typeface="Arial MT"/>
                <a:cs typeface="Arial MT"/>
              </a:rPr>
              <a:t> </a:t>
            </a:r>
            <a:r>
              <a:rPr dirty="0" sz="3400" spc="-110">
                <a:latin typeface="Arial MT"/>
                <a:cs typeface="Arial MT"/>
              </a:rPr>
              <a:t>opera</a:t>
            </a:r>
            <a:r>
              <a:rPr dirty="0" sz="3400" spc="-130">
                <a:latin typeface="Arial MT"/>
                <a:cs typeface="Arial MT"/>
              </a:rPr>
              <a:t> </a:t>
            </a:r>
            <a:r>
              <a:rPr dirty="0" sz="3400" spc="-65">
                <a:latin typeface="Arial MT"/>
                <a:cs typeface="Arial MT"/>
              </a:rPr>
              <a:t>bajo</a:t>
            </a:r>
            <a:r>
              <a:rPr dirty="0" sz="3400" spc="-170">
                <a:latin typeface="Arial MT"/>
                <a:cs typeface="Arial MT"/>
              </a:rPr>
              <a:t> </a:t>
            </a:r>
            <a:r>
              <a:rPr dirty="0" sz="3400" spc="-65">
                <a:latin typeface="Arial MT"/>
                <a:cs typeface="Arial MT"/>
              </a:rPr>
              <a:t>Sticky</a:t>
            </a:r>
            <a:r>
              <a:rPr dirty="0" sz="3400" spc="-175">
                <a:latin typeface="Arial MT"/>
                <a:cs typeface="Arial MT"/>
              </a:rPr>
              <a:t> </a:t>
            </a:r>
            <a:r>
              <a:rPr dirty="0" sz="3400" spc="-90">
                <a:latin typeface="Arial MT"/>
                <a:cs typeface="Arial MT"/>
              </a:rPr>
              <a:t>Delta.</a:t>
            </a:r>
            <a:r>
              <a:rPr dirty="0" sz="3400" spc="-145">
                <a:latin typeface="Arial MT"/>
                <a:cs typeface="Arial MT"/>
              </a:rPr>
              <a:t> </a:t>
            </a:r>
            <a:r>
              <a:rPr dirty="0" sz="3400" spc="-100">
                <a:latin typeface="Arial MT"/>
                <a:cs typeface="Arial MT"/>
              </a:rPr>
              <a:t>Cualquier</a:t>
            </a:r>
            <a:r>
              <a:rPr dirty="0" sz="3400" spc="-140">
                <a:latin typeface="Arial MT"/>
                <a:cs typeface="Arial MT"/>
              </a:rPr>
              <a:t> </a:t>
            </a:r>
            <a:r>
              <a:rPr dirty="0" sz="3400" spc="-40">
                <a:latin typeface="Arial MT"/>
                <a:cs typeface="Arial MT"/>
              </a:rPr>
              <a:t>cambio</a:t>
            </a:r>
            <a:r>
              <a:rPr dirty="0" sz="3400" spc="-185">
                <a:latin typeface="Arial MT"/>
                <a:cs typeface="Arial MT"/>
              </a:rPr>
              <a:t> </a:t>
            </a:r>
            <a:r>
              <a:rPr dirty="0" sz="3400" spc="-90">
                <a:latin typeface="Arial MT"/>
                <a:cs typeface="Arial MT"/>
              </a:rPr>
              <a:t>en</a:t>
            </a:r>
            <a:r>
              <a:rPr dirty="0" sz="3400" spc="-150">
                <a:latin typeface="Arial MT"/>
                <a:cs typeface="Arial MT"/>
              </a:rPr>
              <a:t> </a:t>
            </a:r>
            <a:r>
              <a:rPr dirty="0" sz="3400">
                <a:latin typeface="Arial MT"/>
                <a:cs typeface="Arial MT"/>
              </a:rPr>
              <a:t>la</a:t>
            </a:r>
            <a:r>
              <a:rPr dirty="0" sz="3400" spc="-105">
                <a:latin typeface="Arial MT"/>
                <a:cs typeface="Arial MT"/>
              </a:rPr>
              <a:t> </a:t>
            </a:r>
            <a:r>
              <a:rPr dirty="0" sz="3400" spc="-40">
                <a:latin typeface="Arial MT"/>
                <a:cs typeface="Arial MT"/>
              </a:rPr>
              <a:t>volatilidad</a:t>
            </a:r>
            <a:r>
              <a:rPr dirty="0" sz="3400" spc="-95">
                <a:latin typeface="Arial MT"/>
                <a:cs typeface="Arial MT"/>
              </a:rPr>
              <a:t> </a:t>
            </a:r>
            <a:r>
              <a:rPr dirty="0" sz="3400" spc="-10">
                <a:latin typeface="Arial MT"/>
                <a:cs typeface="Arial MT"/>
              </a:rPr>
              <a:t>(o)</a:t>
            </a:r>
            <a:r>
              <a:rPr dirty="0" sz="3400" spc="-155">
                <a:latin typeface="Arial MT"/>
                <a:cs typeface="Arial MT"/>
              </a:rPr>
              <a:t> </a:t>
            </a:r>
            <a:r>
              <a:rPr dirty="0" sz="3400" spc="-85">
                <a:latin typeface="Arial MT"/>
                <a:cs typeface="Arial MT"/>
              </a:rPr>
              <a:t>desplaza </a:t>
            </a:r>
            <a:r>
              <a:rPr dirty="0" sz="3400" spc="-95">
                <a:latin typeface="Arial MT"/>
                <a:cs typeface="Arial MT"/>
              </a:rPr>
              <a:t>el</a:t>
            </a:r>
            <a:r>
              <a:rPr dirty="0" sz="3400" spc="-145">
                <a:latin typeface="Arial MT"/>
                <a:cs typeface="Arial MT"/>
              </a:rPr>
              <a:t> </a:t>
            </a:r>
            <a:r>
              <a:rPr dirty="0" sz="3400" spc="-80">
                <a:latin typeface="Arial MT"/>
                <a:cs typeface="Arial MT"/>
              </a:rPr>
              <a:t>Strike</a:t>
            </a:r>
            <a:r>
              <a:rPr dirty="0" sz="3400" spc="-150">
                <a:latin typeface="Arial MT"/>
                <a:cs typeface="Arial MT"/>
              </a:rPr>
              <a:t> </a:t>
            </a:r>
            <a:r>
              <a:rPr dirty="0" sz="3400">
                <a:latin typeface="Arial MT"/>
                <a:cs typeface="Arial MT"/>
              </a:rPr>
              <a:t>(/f}</a:t>
            </a:r>
            <a:r>
              <a:rPr dirty="0" sz="3400" spc="-65">
                <a:latin typeface="Arial MT"/>
                <a:cs typeface="Arial MT"/>
              </a:rPr>
              <a:t> </a:t>
            </a:r>
            <a:r>
              <a:rPr dirty="0" sz="3400" spc="-60">
                <a:latin typeface="Arial MT"/>
                <a:cs typeface="Arial MT"/>
              </a:rPr>
              <a:t>correspondiente</a:t>
            </a:r>
            <a:r>
              <a:rPr dirty="0" sz="3400" spc="-200">
                <a:latin typeface="Arial MT"/>
                <a:cs typeface="Arial MT"/>
              </a:rPr>
              <a:t> </a:t>
            </a:r>
            <a:r>
              <a:rPr dirty="0" sz="3400" spc="-190">
                <a:latin typeface="Arial MT"/>
                <a:cs typeface="Arial MT"/>
              </a:rPr>
              <a:t>a</a:t>
            </a:r>
            <a:r>
              <a:rPr dirty="0" sz="3400" spc="-50">
                <a:latin typeface="Arial MT"/>
                <a:cs typeface="Arial MT"/>
              </a:rPr>
              <a:t> </a:t>
            </a:r>
            <a:r>
              <a:rPr dirty="0" sz="3400" spc="-170">
                <a:latin typeface="Arial MT"/>
                <a:cs typeface="Arial MT"/>
              </a:rPr>
              <a:t>esa</a:t>
            </a:r>
            <a:r>
              <a:rPr dirty="0" sz="3400" spc="-70">
                <a:latin typeface="Arial MT"/>
                <a:cs typeface="Arial MT"/>
              </a:rPr>
              <a:t> </a:t>
            </a:r>
            <a:r>
              <a:rPr dirty="0" sz="3400" spc="-10">
                <a:latin typeface="Arial MT"/>
                <a:cs typeface="Arial MT"/>
              </a:rPr>
              <a:t>Delta.</a:t>
            </a:r>
            <a:endParaRPr sz="34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442407" y="6270272"/>
            <a:ext cx="235585" cy="4489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 spc="-50">
                <a:latin typeface="Courier New"/>
                <a:cs typeface="Courier New"/>
              </a:rPr>
              <a:t>0</a:t>
            </a:r>
            <a:endParaRPr sz="275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614342" y="7019925"/>
            <a:ext cx="5368290" cy="2124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3285"/>
              </a:lnSpc>
              <a:spcBef>
                <a:spcPts val="125"/>
              </a:spcBef>
            </a:pPr>
            <a:r>
              <a:rPr dirty="0" sz="3100">
                <a:latin typeface="Arial MT"/>
                <a:cs typeface="Arial MT"/>
              </a:rPr>
              <a:t>25</a:t>
            </a:r>
            <a:r>
              <a:rPr dirty="0" sz="3100" spc="-195">
                <a:latin typeface="Arial MT"/>
                <a:cs typeface="Arial MT"/>
              </a:rPr>
              <a:t> </a:t>
            </a:r>
            <a:r>
              <a:rPr dirty="0" sz="3100" spc="-10">
                <a:latin typeface="Arial MT"/>
                <a:cs typeface="Arial MT"/>
              </a:rPr>
              <a:t>Delta</a:t>
            </a:r>
            <a:endParaRPr sz="3100">
              <a:latin typeface="Arial MT"/>
              <a:cs typeface="Arial MT"/>
            </a:endParaRPr>
          </a:p>
          <a:p>
            <a:pPr algn="ctr" marL="2084070">
              <a:lnSpc>
                <a:spcPts val="3285"/>
              </a:lnSpc>
            </a:pPr>
            <a:r>
              <a:rPr dirty="0" sz="3200" spc="-10">
                <a:latin typeface="Calibri"/>
                <a:cs typeface="Calibri"/>
              </a:rPr>
              <a:t>Desplazamiento</a:t>
            </a:r>
            <a:endParaRPr sz="3200">
              <a:latin typeface="Calibri"/>
              <a:cs typeface="Calibri"/>
            </a:endParaRPr>
          </a:p>
          <a:p>
            <a:pPr algn="ctr" marL="2073910">
              <a:lnSpc>
                <a:spcPts val="3600"/>
              </a:lnSpc>
            </a:pPr>
            <a:r>
              <a:rPr dirty="0" sz="3100">
                <a:latin typeface="Calibri"/>
                <a:cs typeface="Calibri"/>
              </a:rPr>
              <a:t>Horizontal</a:t>
            </a:r>
            <a:r>
              <a:rPr dirty="0" sz="3100" spc="85">
                <a:latin typeface="Calibri"/>
                <a:cs typeface="Calibri"/>
              </a:rPr>
              <a:t> </a:t>
            </a:r>
            <a:r>
              <a:rPr dirty="0" sz="3100">
                <a:latin typeface="Calibri"/>
                <a:cs typeface="Calibri"/>
              </a:rPr>
              <a:t>del</a:t>
            </a:r>
            <a:r>
              <a:rPr dirty="0" sz="3100" spc="-40">
                <a:latin typeface="Calibri"/>
                <a:cs typeface="Calibri"/>
              </a:rPr>
              <a:t> </a:t>
            </a:r>
            <a:r>
              <a:rPr dirty="0" sz="3100" spc="-10">
                <a:latin typeface="Calibri"/>
                <a:cs typeface="Calibri"/>
              </a:rPr>
              <a:t>Strike</a:t>
            </a:r>
            <a:endParaRPr sz="3100">
              <a:latin typeface="Calibri"/>
              <a:cs typeface="Calibri"/>
            </a:endParaRPr>
          </a:p>
          <a:p>
            <a:pPr algn="ctr" marL="863600">
              <a:lnSpc>
                <a:spcPct val="100000"/>
              </a:lnSpc>
              <a:spcBef>
                <a:spcPts val="2430"/>
              </a:spcBef>
            </a:pPr>
            <a:r>
              <a:rPr dirty="0" sz="3250" spc="-120">
                <a:latin typeface="Arial MT"/>
                <a:cs typeface="Arial MT"/>
              </a:rPr>
              <a:t>Strike</a:t>
            </a:r>
            <a:r>
              <a:rPr dirty="0" sz="3250" spc="-90">
                <a:latin typeface="Arial MT"/>
                <a:cs typeface="Arial MT"/>
              </a:rPr>
              <a:t> </a:t>
            </a:r>
            <a:r>
              <a:rPr dirty="0" sz="3250" spc="35" i="1">
                <a:latin typeface="Arial"/>
                <a:cs typeface="Arial"/>
              </a:rPr>
              <a:t>(K))</a:t>
            </a:r>
            <a:endParaRPr sz="325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1430680" y="6166555"/>
            <a:ext cx="2555875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 spc="-65">
                <a:latin typeface="Arial MT"/>
                <a:cs typeface="Arial MT"/>
              </a:rPr>
              <a:t>25</a:t>
            </a:r>
            <a:r>
              <a:rPr dirty="0" sz="3200" spc="-190">
                <a:latin typeface="Arial MT"/>
                <a:cs typeface="Arial MT"/>
              </a:rPr>
              <a:t> </a:t>
            </a:r>
            <a:r>
              <a:rPr dirty="0" sz="3200" spc="-95">
                <a:latin typeface="Arial MT"/>
                <a:cs typeface="Arial MT"/>
              </a:rPr>
              <a:t>Delta (New)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0300" y="3073400"/>
            <a:ext cx="15214600" cy="5041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7848" rIns="0" bIns="0" rtlCol="0" vert="horz">
            <a:spAutoFit/>
          </a:bodyPr>
          <a:lstStyle/>
          <a:p>
            <a:pPr marL="386080">
              <a:lnSpc>
                <a:spcPct val="100000"/>
              </a:lnSpc>
              <a:spcBef>
                <a:spcPts val="130"/>
              </a:spcBef>
            </a:pPr>
            <a:r>
              <a:rPr dirty="0" sz="6150" spc="-75"/>
              <a:t>Estrategia</a:t>
            </a:r>
            <a:r>
              <a:rPr dirty="0" sz="6150" spc="-355"/>
              <a:t> </a:t>
            </a:r>
            <a:r>
              <a:rPr dirty="0" sz="6150" spc="-145"/>
              <a:t>de</a:t>
            </a:r>
            <a:r>
              <a:rPr dirty="0" sz="6150" spc="-375"/>
              <a:t> </a:t>
            </a:r>
            <a:r>
              <a:rPr dirty="0" sz="6150" spc="-45"/>
              <a:t>Punto</a:t>
            </a:r>
            <a:r>
              <a:rPr dirty="0" sz="6150" spc="-365"/>
              <a:t> </a:t>
            </a:r>
            <a:r>
              <a:rPr dirty="0" sz="6150" spc="-20"/>
              <a:t>Fijo</a:t>
            </a:r>
            <a:endParaRPr sz="6150"/>
          </a:p>
          <a:p>
            <a:pPr marL="400050">
              <a:lnSpc>
                <a:spcPct val="100000"/>
              </a:lnSpc>
              <a:spcBef>
                <a:spcPts val="120"/>
              </a:spcBef>
            </a:pPr>
            <a:r>
              <a:rPr dirty="0" sz="3950" spc="-105">
                <a:latin typeface="Calibri"/>
                <a:cs typeface="Calibri"/>
              </a:rPr>
              <a:t>Garantizando</a:t>
            </a:r>
            <a:r>
              <a:rPr dirty="0" sz="3950" spc="-85">
                <a:latin typeface="Calibri"/>
                <a:cs typeface="Calibri"/>
              </a:rPr>
              <a:t> </a:t>
            </a:r>
            <a:r>
              <a:rPr dirty="0" sz="3950" spc="-20">
                <a:latin typeface="Calibri"/>
                <a:cs typeface="Calibri"/>
              </a:rPr>
              <a:t>consistencia</a:t>
            </a:r>
            <a:r>
              <a:rPr dirty="0" sz="3950" spc="114">
                <a:latin typeface="Calibri"/>
                <a:cs typeface="Calibri"/>
              </a:rPr>
              <a:t> </a:t>
            </a:r>
            <a:r>
              <a:rPr dirty="0" sz="3950" spc="-150">
                <a:latin typeface="Calibri"/>
                <a:cs typeface="Calibri"/>
              </a:rPr>
              <a:t>en</a:t>
            </a:r>
            <a:r>
              <a:rPr dirty="0" sz="3950" spc="-75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la</a:t>
            </a:r>
            <a:r>
              <a:rPr dirty="0" sz="3950" spc="-225">
                <a:latin typeface="Calibri"/>
                <a:cs typeface="Calibri"/>
              </a:rPr>
              <a:t> </a:t>
            </a:r>
            <a:r>
              <a:rPr dirty="0" sz="3950" spc="-110">
                <a:latin typeface="Calibri"/>
                <a:cs typeface="Calibri"/>
              </a:rPr>
              <a:t>exportación</a:t>
            </a:r>
            <a:endParaRPr sz="395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6107677" y="9462029"/>
            <a:ext cx="1237615" cy="2197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45"/>
              </a:lnSpc>
            </a:pPr>
            <a:r>
              <a:rPr dirty="0" sz="1500">
                <a:latin typeface="Calibri"/>
                <a:cs typeface="Calibri"/>
              </a:rPr>
              <a:t>G</a:t>
            </a:r>
            <a:r>
              <a:rPr dirty="0" sz="1500" spc="100">
                <a:latin typeface="Calibri"/>
                <a:cs typeface="Calibri"/>
              </a:rPr>
              <a:t>  </a:t>
            </a:r>
            <a:r>
              <a:rPr dirty="0" sz="1500" spc="-25">
                <a:latin typeface="Calibri"/>
                <a:cs typeface="Calibri"/>
              </a:rPr>
              <a:t>NotebookLM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462888" y="5220890"/>
            <a:ext cx="2512060" cy="1981200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algn="ctr" marR="15875">
              <a:lnSpc>
                <a:spcPct val="100000"/>
              </a:lnSpc>
              <a:spcBef>
                <a:spcPts val="1190"/>
              </a:spcBef>
            </a:pPr>
            <a:r>
              <a:rPr dirty="0" sz="3100" spc="-10">
                <a:latin typeface="Arial MT"/>
                <a:cs typeface="Arial MT"/>
              </a:rPr>
              <a:t>Evaluación</a:t>
            </a:r>
            <a:endParaRPr sz="3100">
              <a:latin typeface="Arial MT"/>
              <a:cs typeface="Arial MT"/>
            </a:endParaRPr>
          </a:p>
          <a:p>
            <a:pPr algn="ctr" marL="11430">
              <a:lnSpc>
                <a:spcPts val="3275"/>
              </a:lnSpc>
              <a:spcBef>
                <a:spcPts val="980"/>
              </a:spcBef>
            </a:pPr>
            <a:r>
              <a:rPr dirty="0" sz="2750">
                <a:latin typeface="Calibri"/>
                <a:cs typeface="Calibri"/>
              </a:rPr>
              <a:t>Evaluar</a:t>
            </a:r>
            <a:r>
              <a:rPr dirty="0" sz="2750" spc="330">
                <a:latin typeface="Calibri"/>
                <a:cs typeface="Calibri"/>
              </a:rPr>
              <a:t> </a:t>
            </a:r>
            <a:r>
              <a:rPr dirty="0" sz="2750" spc="125">
                <a:latin typeface="Calibri"/>
                <a:cs typeface="Calibri"/>
              </a:rPr>
              <a:t>SVI</a:t>
            </a:r>
            <a:r>
              <a:rPr dirty="0" sz="2750" spc="145">
                <a:latin typeface="Calibri"/>
                <a:cs typeface="Calibri"/>
              </a:rPr>
              <a:t> </a:t>
            </a:r>
            <a:r>
              <a:rPr dirty="0" sz="2750" spc="-25">
                <a:latin typeface="Calibri"/>
                <a:cs typeface="Calibri"/>
              </a:rPr>
              <a:t>en</a:t>
            </a:r>
            <a:endParaRPr sz="2750">
              <a:latin typeface="Calibri"/>
              <a:cs typeface="Calibri"/>
            </a:endParaRPr>
          </a:p>
          <a:p>
            <a:pPr algn="ctr">
              <a:lnSpc>
                <a:spcPts val="3060"/>
              </a:lnSpc>
            </a:pPr>
            <a:r>
              <a:rPr dirty="0" sz="2600">
                <a:latin typeface="Arial MT"/>
                <a:cs typeface="Arial MT"/>
              </a:rPr>
              <a:t>strikes</a:t>
            </a:r>
            <a:r>
              <a:rPr dirty="0" sz="2600" spc="11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originales</a:t>
            </a:r>
            <a:endParaRPr sz="2600">
              <a:latin typeface="Arial MT"/>
              <a:cs typeface="Arial MT"/>
            </a:endParaRPr>
          </a:p>
          <a:p>
            <a:pPr marL="801370">
              <a:lnSpc>
                <a:spcPts val="3265"/>
              </a:lnSpc>
            </a:pPr>
            <a:r>
              <a:rPr dirty="0" sz="2750" spc="-25">
                <a:latin typeface="Arial MT"/>
                <a:cs typeface="Arial MT"/>
              </a:rPr>
              <a:t>(P,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08325" y="6752872"/>
            <a:ext cx="130810" cy="4489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 spc="-90">
                <a:solidFill>
                  <a:srgbClr val="264F70"/>
                </a:solidFill>
                <a:latin typeface="Arial MT"/>
                <a:cs typeface="Arial MT"/>
              </a:rPr>
              <a:t>•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697875" y="5182210"/>
            <a:ext cx="2084705" cy="1221105"/>
          </a:xfrm>
          <a:prstGeom prst="rect">
            <a:avLst/>
          </a:prstGeom>
        </p:spPr>
        <p:txBody>
          <a:bodyPr wrap="square" lIns="0" tIns="145415" rIns="0" bIns="0" rtlCol="0" vert="horz">
            <a:spAutoFit/>
          </a:bodyPr>
          <a:lstStyle/>
          <a:p>
            <a:pPr algn="ctr" marR="1905">
              <a:lnSpc>
                <a:spcPct val="100000"/>
              </a:lnSpc>
              <a:spcBef>
                <a:spcPts val="1145"/>
              </a:spcBef>
            </a:pPr>
            <a:r>
              <a:rPr dirty="0" sz="3400" spc="-10">
                <a:latin typeface="Calibri"/>
                <a:cs typeface="Calibri"/>
              </a:rPr>
              <a:t>Drift</a:t>
            </a:r>
            <a:endParaRPr sz="3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69"/>
              </a:spcBef>
            </a:pPr>
            <a:r>
              <a:rPr dirty="0" sz="2850">
                <a:latin typeface="Calibri"/>
                <a:cs typeface="Calibri"/>
              </a:rPr>
              <a:t>Calcular</a:t>
            </a:r>
            <a:r>
              <a:rPr dirty="0" sz="2850" spc="270">
                <a:latin typeface="Calibri"/>
                <a:cs typeface="Calibri"/>
              </a:rPr>
              <a:t> </a:t>
            </a:r>
            <a:r>
              <a:rPr dirty="0" sz="2850" spc="-10">
                <a:latin typeface="Calibri"/>
                <a:cs typeface="Calibri"/>
              </a:rPr>
              <a:t>Delta</a:t>
            </a:r>
            <a:endParaRPr sz="28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716394" y="6415969"/>
            <a:ext cx="1178560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00" spc="90">
                <a:latin typeface="Arial MT"/>
                <a:cs typeface="Arial MT"/>
              </a:rPr>
              <a:t>exactá</a:t>
            </a:r>
            <a:r>
              <a:rPr dirty="0" sz="2400" spc="55">
                <a:latin typeface="Arial MT"/>
                <a:cs typeface="Arial MT"/>
              </a:rPr>
              <a:t> </a:t>
            </a:r>
            <a:r>
              <a:rPr dirty="0" sz="2400" spc="-50" i="1">
                <a:latin typeface="Arial"/>
                <a:cs typeface="Arial"/>
              </a:rPr>
              <a:t>(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114451" y="6466769"/>
            <a:ext cx="647700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00" spc="-75" i="1">
                <a:latin typeface="Arial"/>
                <a:cs typeface="Arial"/>
              </a:rPr>
              <a:t>new)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676718" y="6717594"/>
            <a:ext cx="2115820" cy="4914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50" spc="-265">
                <a:latin typeface="Arial MT"/>
                <a:cs typeface="Arial MT"/>
              </a:rPr>
              <a:t>para</a:t>
            </a:r>
            <a:r>
              <a:rPr dirty="0" sz="3050" spc="-40">
                <a:latin typeface="Arial MT"/>
                <a:cs typeface="Arial MT"/>
              </a:rPr>
              <a:t> </a:t>
            </a:r>
            <a:r>
              <a:rPr dirty="0" sz="3050" spc="-270">
                <a:latin typeface="Arial MT"/>
                <a:cs typeface="Arial MT"/>
              </a:rPr>
              <a:t>cada</a:t>
            </a:r>
            <a:r>
              <a:rPr dirty="0" sz="3050" spc="-90">
                <a:latin typeface="Arial MT"/>
                <a:cs typeface="Arial MT"/>
              </a:rPr>
              <a:t> </a:t>
            </a:r>
            <a:r>
              <a:rPr dirty="0" sz="3050" spc="-275">
                <a:latin typeface="Arial MT"/>
                <a:cs typeface="Arial MT"/>
              </a:rPr>
              <a:t>par.</a:t>
            </a:r>
            <a:endParaRPr sz="30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521819" y="5227654"/>
            <a:ext cx="2416810" cy="2367915"/>
          </a:xfrm>
          <a:prstGeom prst="rect">
            <a:avLst/>
          </a:prstGeom>
        </p:spPr>
        <p:txBody>
          <a:bodyPr wrap="square" lIns="0" tIns="125095" rIns="0" bIns="0" rtlCol="0" vert="horz">
            <a:spAutoFit/>
          </a:bodyPr>
          <a:lstStyle/>
          <a:p>
            <a:pPr algn="ctr" marR="22225">
              <a:lnSpc>
                <a:spcPct val="100000"/>
              </a:lnSpc>
              <a:spcBef>
                <a:spcPts val="985"/>
              </a:spcBef>
            </a:pPr>
            <a:r>
              <a:rPr dirty="0" sz="3250" spc="-50">
                <a:latin typeface="Arial MT"/>
                <a:cs typeface="Arial MT"/>
              </a:rPr>
              <a:t>Resampling</a:t>
            </a:r>
            <a:endParaRPr sz="3250">
              <a:latin typeface="Arial MT"/>
              <a:cs typeface="Arial MT"/>
            </a:endParaRPr>
          </a:p>
          <a:p>
            <a:pPr algn="ctr" marL="12700" marR="5080" indent="-32384">
              <a:lnSpc>
                <a:spcPct val="93000"/>
              </a:lnSpc>
              <a:spcBef>
                <a:spcPts val="1045"/>
              </a:spcBef>
            </a:pPr>
            <a:r>
              <a:rPr dirty="0" sz="2900" spc="-50">
                <a:latin typeface="Arial MT"/>
                <a:cs typeface="Arial MT"/>
              </a:rPr>
              <a:t>Construir </a:t>
            </a:r>
            <a:r>
              <a:rPr dirty="0" sz="2750" spc="-10">
                <a:latin typeface="Arial MT"/>
                <a:cs typeface="Arial MT"/>
              </a:rPr>
              <a:t>interpolador </a:t>
            </a:r>
            <a:r>
              <a:rPr dirty="0" sz="2900" spc="-310">
                <a:latin typeface="Arial MT"/>
                <a:cs typeface="Arial MT"/>
              </a:rPr>
              <a:t>PCHIP</a:t>
            </a:r>
            <a:r>
              <a:rPr dirty="0" sz="2900" spc="130">
                <a:latin typeface="Arial MT"/>
                <a:cs typeface="Arial MT"/>
              </a:rPr>
              <a:t> </a:t>
            </a:r>
            <a:r>
              <a:rPr dirty="0" sz="2900" spc="-185">
                <a:latin typeface="Arial MT"/>
                <a:cs typeface="Arial MT"/>
              </a:rPr>
              <a:t>sobre</a:t>
            </a:r>
            <a:r>
              <a:rPr dirty="0" sz="2900" spc="20">
                <a:latin typeface="Arial MT"/>
                <a:cs typeface="Arial MT"/>
              </a:rPr>
              <a:t> </a:t>
            </a:r>
            <a:r>
              <a:rPr dirty="0" sz="2900" spc="-170">
                <a:latin typeface="Arial MT"/>
                <a:cs typeface="Arial MT"/>
              </a:rPr>
              <a:t>eje </a:t>
            </a:r>
            <a:r>
              <a:rPr dirty="0" sz="2750" spc="-60">
                <a:latin typeface="Arial MT"/>
                <a:cs typeface="Arial MT"/>
              </a:rPr>
              <a:t>de</a:t>
            </a:r>
            <a:r>
              <a:rPr dirty="0" sz="2750" spc="-130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Deltas.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3570495" y="5362575"/>
            <a:ext cx="2351405" cy="501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100" spc="-70">
                <a:latin typeface="Arial MT"/>
                <a:cs typeface="Arial MT"/>
              </a:rPr>
              <a:t>Recuperación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3627899" y="6328833"/>
            <a:ext cx="2274570" cy="127000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algn="ctr" marL="12700" marR="5080">
              <a:lnSpc>
                <a:spcPts val="3150"/>
              </a:lnSpc>
              <a:spcBef>
                <a:spcPts val="495"/>
              </a:spcBef>
            </a:pPr>
            <a:r>
              <a:rPr dirty="0" sz="2900" spc="-105">
                <a:latin typeface="Arial MT"/>
                <a:cs typeface="Arial MT"/>
              </a:rPr>
              <a:t>interpolador</a:t>
            </a:r>
            <a:r>
              <a:rPr dirty="0" sz="2900" spc="-60">
                <a:latin typeface="Arial MT"/>
                <a:cs typeface="Arial MT"/>
              </a:rPr>
              <a:t> </a:t>
            </a:r>
            <a:r>
              <a:rPr dirty="0" sz="2900" spc="-185">
                <a:latin typeface="Arial MT"/>
                <a:cs typeface="Arial MT"/>
              </a:rPr>
              <a:t>en </a:t>
            </a:r>
            <a:r>
              <a:rPr dirty="0" sz="2900" spc="-95">
                <a:latin typeface="Arial MT"/>
                <a:cs typeface="Arial MT"/>
              </a:rPr>
              <a:t>targets</a:t>
            </a:r>
            <a:r>
              <a:rPr dirty="0" sz="2900" spc="-80">
                <a:latin typeface="Arial MT"/>
                <a:cs typeface="Arial MT"/>
              </a:rPr>
              <a:t> </a:t>
            </a:r>
            <a:r>
              <a:rPr dirty="0" sz="2900" spc="-10">
                <a:latin typeface="Arial MT"/>
                <a:cs typeface="Arial MT"/>
              </a:rPr>
              <a:t>(10D, </a:t>
            </a:r>
            <a:r>
              <a:rPr dirty="0" sz="2900" spc="-295">
                <a:latin typeface="Arial MT"/>
                <a:cs typeface="Arial MT"/>
              </a:rPr>
              <a:t>25D,</a:t>
            </a:r>
            <a:r>
              <a:rPr dirty="0" sz="2900" spc="-100">
                <a:latin typeface="Arial MT"/>
                <a:cs typeface="Arial MT"/>
              </a:rPr>
              <a:t> </a:t>
            </a:r>
            <a:r>
              <a:rPr dirty="0" sz="2900" spc="-25">
                <a:latin typeface="Arial MT"/>
                <a:cs typeface="Arial MT"/>
              </a:rPr>
              <a:t>ATM).</a:t>
            </a:r>
            <a:endParaRPr sz="2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0900" y="3403600"/>
            <a:ext cx="10896600" cy="47752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4114800" y="2992967"/>
            <a:ext cx="9885045" cy="5516245"/>
            <a:chOff x="4114800" y="2992967"/>
            <a:chExt cx="9885045" cy="5516245"/>
          </a:xfrm>
        </p:grpSpPr>
        <p:sp>
          <p:nvSpPr>
            <p:cNvPr id="4" name="object 4" descr=""/>
            <p:cNvSpPr/>
            <p:nvPr/>
          </p:nvSpPr>
          <p:spPr>
            <a:xfrm>
              <a:off x="4129616" y="2992967"/>
              <a:ext cx="0" cy="5516245"/>
            </a:xfrm>
            <a:custGeom>
              <a:avLst/>
              <a:gdLst/>
              <a:ahLst/>
              <a:cxnLst/>
              <a:rect l="l" t="t" r="r" b="b"/>
              <a:pathLst>
                <a:path w="0" h="5516245">
                  <a:moveTo>
                    <a:pt x="0" y="55160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114800" y="8481483"/>
              <a:ext cx="9885045" cy="0"/>
            </a:xfrm>
            <a:custGeom>
              <a:avLst/>
              <a:gdLst/>
              <a:ahLst/>
              <a:cxnLst/>
              <a:rect l="l" t="t" r="r" b="b"/>
              <a:pathLst>
                <a:path w="9885044" h="0">
                  <a:moveTo>
                    <a:pt x="0" y="0"/>
                  </a:moveTo>
                  <a:lnTo>
                    <a:pt x="9884833" y="0"/>
                  </a:lnTo>
                </a:path>
              </a:pathLst>
            </a:custGeom>
            <a:ln w="4233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9019" rIns="0" bIns="0" rtlCol="0" vert="horz">
            <a:spAutoFit/>
          </a:bodyPr>
          <a:lstStyle/>
          <a:p>
            <a:pPr marL="361950">
              <a:lnSpc>
                <a:spcPts val="8210"/>
              </a:lnSpc>
              <a:spcBef>
                <a:spcPts val="125"/>
              </a:spcBef>
            </a:pPr>
            <a:r>
              <a:rPr dirty="0" sz="6850" spc="-165">
                <a:latin typeface="Calibri"/>
                <a:cs typeface="Calibri"/>
              </a:rPr>
              <a:t>Interpolación</a:t>
            </a:r>
            <a:r>
              <a:rPr dirty="0" sz="6850" spc="-85">
                <a:latin typeface="Calibri"/>
                <a:cs typeface="Calibri"/>
              </a:rPr>
              <a:t> </a:t>
            </a:r>
            <a:r>
              <a:rPr dirty="0" sz="6850" spc="-335">
                <a:latin typeface="Calibri"/>
                <a:cs typeface="Calibri"/>
              </a:rPr>
              <a:t>Monótona</a:t>
            </a:r>
            <a:r>
              <a:rPr dirty="0" sz="6850" spc="-55">
                <a:latin typeface="Calibri"/>
                <a:cs typeface="Calibri"/>
              </a:rPr>
              <a:t> </a:t>
            </a:r>
            <a:r>
              <a:rPr dirty="0" sz="6850" spc="-10">
                <a:latin typeface="Calibri"/>
                <a:cs typeface="Calibri"/>
              </a:rPr>
              <a:t>(PCHIP)</a:t>
            </a:r>
            <a:endParaRPr sz="6850">
              <a:latin typeface="Calibri"/>
              <a:cs typeface="Calibri"/>
            </a:endParaRPr>
          </a:p>
          <a:p>
            <a:pPr marL="379730">
              <a:lnSpc>
                <a:spcPts val="4730"/>
              </a:lnSpc>
            </a:pPr>
            <a:r>
              <a:rPr dirty="0" sz="3950" spc="-140">
                <a:latin typeface="Calibri"/>
                <a:cs typeface="Calibri"/>
              </a:rPr>
              <a:t>Evitando</a:t>
            </a:r>
            <a:r>
              <a:rPr dirty="0" sz="3950" spc="-95">
                <a:latin typeface="Calibri"/>
                <a:cs typeface="Calibri"/>
              </a:rPr>
              <a:t> </a:t>
            </a:r>
            <a:r>
              <a:rPr dirty="0" sz="3950" spc="-40">
                <a:latin typeface="Calibri"/>
                <a:cs typeface="Calibri"/>
              </a:rPr>
              <a:t>oscilaciones</a:t>
            </a:r>
            <a:r>
              <a:rPr dirty="0" sz="3950" spc="-55">
                <a:latin typeface="Calibri"/>
                <a:cs typeface="Calibri"/>
              </a:rPr>
              <a:t> </a:t>
            </a:r>
            <a:r>
              <a:rPr dirty="0" sz="3950" spc="-65">
                <a:latin typeface="Calibri"/>
                <a:cs typeface="Calibri"/>
              </a:rPr>
              <a:t>artificiales</a:t>
            </a:r>
            <a:r>
              <a:rPr dirty="0" sz="3950" spc="40">
                <a:latin typeface="Calibri"/>
                <a:cs typeface="Calibri"/>
              </a:rPr>
              <a:t> </a:t>
            </a:r>
            <a:r>
              <a:rPr dirty="0" sz="3950" spc="-210">
                <a:latin typeface="Calibri"/>
                <a:cs typeface="Calibri"/>
              </a:rPr>
              <a:t>en</a:t>
            </a:r>
            <a:r>
              <a:rPr dirty="0" sz="3950" spc="-55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la</a:t>
            </a:r>
            <a:r>
              <a:rPr dirty="0" sz="3950" spc="-235">
                <a:latin typeface="Calibri"/>
                <a:cs typeface="Calibri"/>
              </a:rPr>
              <a:t> </a:t>
            </a:r>
            <a:r>
              <a:rPr dirty="0" sz="3950" spc="-105">
                <a:latin typeface="Calibri"/>
                <a:cs typeface="Calibri"/>
              </a:rPr>
              <a:t>curva</a:t>
            </a:r>
            <a:r>
              <a:rPr dirty="0" sz="3950" spc="-120">
                <a:latin typeface="Calibri"/>
                <a:cs typeface="Calibri"/>
              </a:rPr>
              <a:t> </a:t>
            </a:r>
            <a:r>
              <a:rPr dirty="0" sz="3950" spc="-110">
                <a:latin typeface="Calibri"/>
                <a:cs typeface="Calibri"/>
              </a:rPr>
              <a:t>de</a:t>
            </a:r>
            <a:r>
              <a:rPr dirty="0" sz="3950" spc="-105">
                <a:latin typeface="Calibri"/>
                <a:cs typeface="Calibri"/>
              </a:rPr>
              <a:t> </a:t>
            </a:r>
            <a:r>
              <a:rPr dirty="0" sz="3950" spc="-130">
                <a:latin typeface="Calibri"/>
                <a:cs typeface="Calibri"/>
              </a:rPr>
              <a:t>volatilidad.</a:t>
            </a:r>
            <a:endParaRPr sz="395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6107677" y="9462029"/>
            <a:ext cx="1237615" cy="2197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45"/>
              </a:lnSpc>
            </a:pPr>
            <a:r>
              <a:rPr dirty="0" sz="1500">
                <a:latin typeface="Calibri"/>
                <a:cs typeface="Calibri"/>
              </a:rPr>
              <a:t>G</a:t>
            </a:r>
            <a:r>
              <a:rPr dirty="0" sz="1500" spc="100">
                <a:latin typeface="Calibri"/>
                <a:cs typeface="Calibri"/>
              </a:rPr>
              <a:t>  </a:t>
            </a:r>
            <a:r>
              <a:rPr dirty="0" sz="1500" spc="-25">
                <a:latin typeface="Calibri"/>
                <a:cs typeface="Calibri"/>
              </a:rPr>
              <a:t>NotebookLM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442998" y="3500691"/>
            <a:ext cx="7429500" cy="1407160"/>
          </a:xfrm>
          <a:prstGeom prst="rect">
            <a:avLst/>
          </a:prstGeom>
        </p:spPr>
        <p:txBody>
          <a:bodyPr wrap="square" lIns="0" tIns="1695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dirty="0" sz="3550" spc="-50">
                <a:latin typeface="Calibri"/>
                <a:cs typeface="Calibri"/>
              </a:rPr>
              <a:t>Cubic</a:t>
            </a:r>
            <a:r>
              <a:rPr dirty="0" sz="3550" spc="-120">
                <a:latin typeface="Calibri"/>
                <a:cs typeface="Calibri"/>
              </a:rPr>
              <a:t> </a:t>
            </a:r>
            <a:r>
              <a:rPr dirty="0" sz="3550" spc="-10">
                <a:latin typeface="Calibri"/>
                <a:cs typeface="Calibri"/>
              </a:rPr>
              <a:t>Spline</a:t>
            </a:r>
            <a:endParaRPr sz="3550">
              <a:latin typeface="Calibri"/>
              <a:cs typeface="Calibri"/>
            </a:endParaRPr>
          </a:p>
          <a:p>
            <a:pPr marL="4628515">
              <a:lnSpc>
                <a:spcPct val="100000"/>
              </a:lnSpc>
              <a:spcBef>
                <a:spcPts val="1240"/>
              </a:spcBef>
              <a:tabLst>
                <a:tab pos="5358765" algn="l"/>
                <a:tab pos="6308725" algn="l"/>
              </a:tabLst>
            </a:pPr>
            <a:r>
              <a:rPr dirty="0" sz="3450" spc="-50" i="1">
                <a:solidFill>
                  <a:srgbClr val="26465D"/>
                </a:solidFill>
                <a:latin typeface="Calibri"/>
                <a:cs typeface="Calibri"/>
              </a:rPr>
              <a:t>'</a:t>
            </a:r>
            <a:r>
              <a:rPr dirty="0" sz="3450" i="1">
                <a:solidFill>
                  <a:srgbClr val="26465D"/>
                </a:solidFill>
                <a:latin typeface="Calibri"/>
                <a:cs typeface="Calibri"/>
              </a:rPr>
              <a:t>	</a:t>
            </a:r>
            <a:r>
              <a:rPr dirty="0" sz="3450" spc="-555">
                <a:solidFill>
                  <a:srgbClr val="BC726D"/>
                </a:solidFill>
                <a:latin typeface="Calibri"/>
                <a:cs typeface="Calibri"/>
              </a:rPr>
              <a:t>,'’</a:t>
            </a:r>
            <a:r>
              <a:rPr dirty="0" sz="3450" spc="-555">
                <a:solidFill>
                  <a:srgbClr val="425D6E"/>
                </a:solidFill>
                <a:latin typeface="Calibri"/>
                <a:cs typeface="Calibri"/>
              </a:rPr>
              <a:t>|x—</a:t>
            </a:r>
            <a:r>
              <a:rPr dirty="0" sz="3450" spc="-910">
                <a:solidFill>
                  <a:srgbClr val="425D6E"/>
                </a:solidFill>
                <a:latin typeface="Calibri"/>
                <a:cs typeface="Calibri"/>
              </a:rPr>
              <a:t>*</a:t>
            </a:r>
            <a:r>
              <a:rPr dirty="0" sz="3450">
                <a:solidFill>
                  <a:srgbClr val="425D6E"/>
                </a:solidFill>
                <a:latin typeface="Calibri"/>
                <a:cs typeface="Calibri"/>
              </a:rPr>
              <a:t>	</a:t>
            </a:r>
            <a:r>
              <a:rPr dirty="0" sz="3450" spc="-10">
                <a:latin typeface="Calibri"/>
                <a:cs typeface="Calibri"/>
              </a:rPr>
              <a:t>PCHIP</a:t>
            </a:r>
            <a:endParaRPr sz="34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351200" y="6311194"/>
            <a:ext cx="4608830" cy="17125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98145">
              <a:lnSpc>
                <a:spcPts val="3404"/>
              </a:lnSpc>
              <a:spcBef>
                <a:spcPts val="105"/>
              </a:spcBef>
            </a:pPr>
            <a:r>
              <a:rPr dirty="0" sz="3050" spc="85">
                <a:latin typeface="Calibri"/>
                <a:cs typeface="Calibri"/>
              </a:rPr>
              <a:t>PCHIP</a:t>
            </a:r>
            <a:r>
              <a:rPr dirty="0" sz="3050" spc="-130">
                <a:latin typeface="Calibri"/>
                <a:cs typeface="Calibri"/>
              </a:rPr>
              <a:t> </a:t>
            </a:r>
            <a:r>
              <a:rPr dirty="0" sz="3050" spc="-50">
                <a:latin typeface="Calibri"/>
                <a:cs typeface="Calibri"/>
              </a:rPr>
              <a:t>preserva</a:t>
            </a:r>
            <a:r>
              <a:rPr dirty="0" sz="3050" spc="-40">
                <a:latin typeface="Calibri"/>
                <a:cs typeface="Calibri"/>
              </a:rPr>
              <a:t> </a:t>
            </a:r>
            <a:r>
              <a:rPr dirty="0" sz="3050" spc="-25">
                <a:latin typeface="Calibri"/>
                <a:cs typeface="Calibri"/>
              </a:rPr>
              <a:t>la</a:t>
            </a:r>
            <a:endParaRPr sz="3050">
              <a:latin typeface="Calibri"/>
              <a:cs typeface="Calibri"/>
            </a:endParaRPr>
          </a:p>
          <a:p>
            <a:pPr marL="388620" marR="5080" indent="-376555">
              <a:lnSpc>
                <a:spcPts val="3200"/>
              </a:lnSpc>
              <a:spcBef>
                <a:spcPts val="285"/>
              </a:spcBef>
              <a:buClr>
                <a:srgbClr val="335267"/>
              </a:buClr>
              <a:buChar char="•"/>
              <a:tabLst>
                <a:tab pos="400685" algn="l"/>
              </a:tabLst>
            </a:pPr>
            <a:r>
              <a:rPr dirty="0" sz="3100" spc="-105">
                <a:latin typeface="Calibri"/>
                <a:cs typeface="Calibri"/>
              </a:rPr>
              <a:t>monotonicidad,</a:t>
            </a:r>
            <a:r>
              <a:rPr dirty="0" sz="3100" spc="-70">
                <a:latin typeface="Calibri"/>
                <a:cs typeface="Calibri"/>
              </a:rPr>
              <a:t> </a:t>
            </a:r>
            <a:r>
              <a:rPr dirty="0" sz="3100" spc="-65">
                <a:latin typeface="Calibri"/>
                <a:cs typeface="Calibri"/>
              </a:rPr>
              <a:t>crucial</a:t>
            </a:r>
            <a:r>
              <a:rPr dirty="0" sz="3100" spc="-60">
                <a:latin typeface="Calibri"/>
                <a:cs typeface="Calibri"/>
              </a:rPr>
              <a:t> </a:t>
            </a:r>
            <a:r>
              <a:rPr dirty="0" sz="3100" spc="-30">
                <a:latin typeface="Calibri"/>
                <a:cs typeface="Calibri"/>
              </a:rPr>
              <a:t>para </a:t>
            </a:r>
            <a:r>
              <a:rPr dirty="0" sz="3100" spc="-30">
                <a:latin typeface="Calibri"/>
                <a:cs typeface="Calibri"/>
              </a:rPr>
              <a:t>	</a:t>
            </a:r>
            <a:r>
              <a:rPr dirty="0" sz="3050" spc="-80">
                <a:latin typeface="Calibri"/>
                <a:cs typeface="Calibri"/>
              </a:rPr>
              <a:t>evitar</a:t>
            </a:r>
            <a:r>
              <a:rPr dirty="0" sz="3050" spc="-90">
                <a:latin typeface="Calibri"/>
                <a:cs typeface="Calibri"/>
              </a:rPr>
              <a:t> </a:t>
            </a:r>
            <a:r>
              <a:rPr dirty="0" sz="3050" spc="-95">
                <a:latin typeface="Calibri"/>
                <a:cs typeface="Calibri"/>
              </a:rPr>
              <a:t>arbitraje</a:t>
            </a:r>
            <a:r>
              <a:rPr dirty="0" sz="3050" spc="25">
                <a:latin typeface="Calibri"/>
                <a:cs typeface="Calibri"/>
              </a:rPr>
              <a:t> </a:t>
            </a:r>
            <a:r>
              <a:rPr dirty="0" sz="3050" spc="-135">
                <a:latin typeface="Calibri"/>
                <a:cs typeface="Calibri"/>
              </a:rPr>
              <a:t>en</a:t>
            </a:r>
            <a:r>
              <a:rPr dirty="0" sz="3050" spc="-60">
                <a:latin typeface="Calibri"/>
                <a:cs typeface="Calibri"/>
              </a:rPr>
              <a:t> </a:t>
            </a:r>
            <a:r>
              <a:rPr dirty="0" sz="3050" spc="-25">
                <a:latin typeface="Calibri"/>
                <a:cs typeface="Calibri"/>
              </a:rPr>
              <a:t>la </a:t>
            </a:r>
            <a:r>
              <a:rPr dirty="0" sz="3050" spc="-25">
                <a:latin typeface="Calibri"/>
                <a:cs typeface="Calibri"/>
              </a:rPr>
              <a:t>	</a:t>
            </a:r>
            <a:r>
              <a:rPr dirty="0" sz="3100" spc="-35">
                <a:latin typeface="Calibri"/>
                <a:cs typeface="Calibri"/>
              </a:rPr>
              <a:t>interpolación.</a:t>
            </a:r>
            <a:endParaRPr sz="3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500" y="4140200"/>
            <a:ext cx="15303500" cy="34671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4500" y="2794000"/>
            <a:ext cx="1117600" cy="10160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56400" y="2768600"/>
            <a:ext cx="1117600" cy="10922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760200" y="3187700"/>
            <a:ext cx="673100" cy="6604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046200" y="2755900"/>
            <a:ext cx="1600200" cy="11049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62300" y="990600"/>
            <a:ext cx="127000" cy="12700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1754717" y="2836332"/>
            <a:ext cx="0" cy="1003300"/>
          </a:xfrm>
          <a:custGeom>
            <a:avLst/>
            <a:gdLst/>
            <a:ahLst/>
            <a:cxnLst/>
            <a:rect l="l" t="t" r="r" b="b"/>
            <a:pathLst>
              <a:path w="0" h="1003300">
                <a:moveTo>
                  <a:pt x="0" y="1003300"/>
                </a:moveTo>
                <a:lnTo>
                  <a:pt x="0" y="0"/>
                </a:lnTo>
              </a:path>
            </a:pathLst>
          </a:custGeom>
          <a:ln w="12700">
            <a:solidFill>
              <a:srgbClr val="4F6467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1748367" y="2836332"/>
            <a:ext cx="1028700" cy="1003300"/>
            <a:chOff x="1748367" y="2836332"/>
            <a:chExt cx="1028700" cy="1003300"/>
          </a:xfrm>
        </p:grpSpPr>
        <p:sp>
          <p:nvSpPr>
            <p:cNvPr id="10" name="object 10" descr=""/>
            <p:cNvSpPr/>
            <p:nvPr/>
          </p:nvSpPr>
          <p:spPr>
            <a:xfrm>
              <a:off x="2770717" y="2836332"/>
              <a:ext cx="0" cy="1003300"/>
            </a:xfrm>
            <a:custGeom>
              <a:avLst/>
              <a:gdLst/>
              <a:ahLst/>
              <a:cxnLst/>
              <a:rect l="l" t="t" r="r" b="b"/>
              <a:pathLst>
                <a:path w="0" h="1003300">
                  <a:moveTo>
                    <a:pt x="0" y="10033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4F646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748367" y="2842682"/>
              <a:ext cx="1028700" cy="0"/>
            </a:xfrm>
            <a:custGeom>
              <a:avLst/>
              <a:gdLst/>
              <a:ahLst/>
              <a:cxnLst/>
              <a:rect l="l" t="t" r="r" b="b"/>
              <a:pathLst>
                <a:path w="1028700" h="0">
                  <a:moveTo>
                    <a:pt x="0" y="0"/>
                  </a:moveTo>
                  <a:lnTo>
                    <a:pt x="1028700" y="0"/>
                  </a:lnTo>
                </a:path>
              </a:pathLst>
            </a:custGeom>
            <a:ln w="12700">
              <a:solidFill>
                <a:srgbClr val="4F646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748367" y="3833282"/>
              <a:ext cx="1028700" cy="0"/>
            </a:xfrm>
            <a:custGeom>
              <a:avLst/>
              <a:gdLst/>
              <a:ahLst/>
              <a:cxnLst/>
              <a:rect l="l" t="t" r="r" b="b"/>
              <a:pathLst>
                <a:path w="1028700" h="0">
                  <a:moveTo>
                    <a:pt x="0" y="0"/>
                  </a:moveTo>
                  <a:lnTo>
                    <a:pt x="1028700" y="0"/>
                  </a:lnTo>
                </a:path>
              </a:pathLst>
            </a:custGeom>
            <a:ln w="12700">
              <a:solidFill>
                <a:srgbClr val="4F646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748367" y="3071282"/>
              <a:ext cx="1028700" cy="0"/>
            </a:xfrm>
            <a:custGeom>
              <a:avLst/>
              <a:gdLst/>
              <a:ahLst/>
              <a:cxnLst/>
              <a:rect l="l" t="t" r="r" b="b"/>
              <a:pathLst>
                <a:path w="1028700" h="0">
                  <a:moveTo>
                    <a:pt x="0" y="0"/>
                  </a:moveTo>
                  <a:lnTo>
                    <a:pt x="1028700" y="0"/>
                  </a:lnTo>
                </a:path>
              </a:pathLst>
            </a:custGeom>
            <a:ln w="12700">
              <a:solidFill>
                <a:srgbClr val="4F646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40478" rIns="0" bIns="0" rtlCol="0" vert="horz">
            <a:spAutoFit/>
          </a:bodyPr>
          <a:lstStyle/>
          <a:p>
            <a:pPr marL="384810">
              <a:lnSpc>
                <a:spcPct val="100000"/>
              </a:lnSpc>
              <a:spcBef>
                <a:spcPts val="110"/>
              </a:spcBef>
            </a:pPr>
            <a:r>
              <a:rPr dirty="0" spc="-35"/>
              <a:t>Flujo</a:t>
            </a:r>
            <a:r>
              <a:rPr dirty="0" spc="-390"/>
              <a:t> </a:t>
            </a:r>
            <a:r>
              <a:rPr dirty="0" spc="-145"/>
              <a:t>de</a:t>
            </a:r>
            <a:r>
              <a:rPr dirty="0" spc="-455"/>
              <a:t> </a:t>
            </a:r>
            <a:r>
              <a:rPr dirty="0" spc="-100"/>
              <a:t>Trabajo</a:t>
            </a:r>
            <a:r>
              <a:rPr dirty="0" spc="-290"/>
              <a:t> </a:t>
            </a:r>
            <a:r>
              <a:rPr dirty="0" spc="-105"/>
              <a:t>Completo</a:t>
            </a:r>
          </a:p>
        </p:txBody>
      </p:sp>
      <p:sp>
        <p:nvSpPr>
          <p:cNvPr id="23" name="object 2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45"/>
              </a:lnSpc>
            </a:pPr>
            <a:r>
              <a:rPr dirty="0" spc="120"/>
              <a:t>W</a:t>
            </a:r>
            <a:r>
              <a:rPr dirty="0" spc="110"/>
              <a:t> </a:t>
            </a:r>
            <a:r>
              <a:rPr dirty="0" spc="-35"/>
              <a:t>NotebaokLM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2033907" y="4634794"/>
            <a:ext cx="1050925" cy="4914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50" spc="-40">
                <a:latin typeface="Arial MT"/>
                <a:cs typeface="Arial MT"/>
              </a:rPr>
              <a:t>Inputs</a:t>
            </a:r>
            <a:endParaRPr sz="305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078366" y="5534730"/>
            <a:ext cx="968375" cy="78930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06045">
              <a:lnSpc>
                <a:spcPts val="2905"/>
              </a:lnSpc>
              <a:spcBef>
                <a:spcPts val="120"/>
              </a:spcBef>
            </a:pPr>
            <a:r>
              <a:rPr dirty="0" sz="2550" spc="-10">
                <a:latin typeface="Arial MT"/>
                <a:cs typeface="Arial MT"/>
              </a:rPr>
              <a:t>Datos</a:t>
            </a:r>
            <a:endParaRPr sz="2550">
              <a:latin typeface="Arial MT"/>
              <a:cs typeface="Arial MT"/>
            </a:endParaRPr>
          </a:p>
          <a:p>
            <a:pPr marL="12700">
              <a:lnSpc>
                <a:spcPts val="3085"/>
              </a:lnSpc>
            </a:pPr>
            <a:r>
              <a:rPr dirty="0" sz="2700" spc="-210">
                <a:latin typeface="Arial MT"/>
                <a:cs typeface="Arial MT"/>
              </a:rPr>
              <a:t>Crudos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534443" y="4658783"/>
            <a:ext cx="1044575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-10">
                <a:latin typeface="Arial MT"/>
                <a:cs typeface="Arial MT"/>
              </a:rPr>
              <a:t>Ajuste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703972" y="4658783"/>
            <a:ext cx="1699895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-25">
                <a:latin typeface="Arial MT"/>
                <a:cs typeface="Arial MT"/>
              </a:rPr>
              <a:t>Validación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445774" y="5517091"/>
            <a:ext cx="1273175" cy="7969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ts val="3120"/>
              </a:lnSpc>
              <a:spcBef>
                <a:spcPts val="105"/>
              </a:spcBef>
            </a:pPr>
            <a:r>
              <a:rPr dirty="0" sz="2700" spc="-25">
                <a:latin typeface="Calibri"/>
                <a:cs typeface="Calibri"/>
              </a:rPr>
              <a:t>Schadner</a:t>
            </a:r>
            <a:endParaRPr sz="2700">
              <a:latin typeface="Calibri"/>
              <a:cs typeface="Calibri"/>
            </a:endParaRPr>
          </a:p>
          <a:p>
            <a:pPr algn="ctr" marL="15240">
              <a:lnSpc>
                <a:spcPts val="2940"/>
              </a:lnSpc>
            </a:pPr>
            <a:r>
              <a:rPr dirty="0" sz="2550" spc="-340">
                <a:latin typeface="Arial MT"/>
                <a:cs typeface="Arial MT"/>
              </a:rPr>
              <a:t>OLS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815466" y="5517091"/>
            <a:ext cx="1633855" cy="80645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53975" marR="5080" indent="-41910">
              <a:lnSpc>
                <a:spcPts val="2900"/>
              </a:lnSpc>
              <a:spcBef>
                <a:spcPts val="484"/>
              </a:spcBef>
            </a:pPr>
            <a:r>
              <a:rPr dirty="0" sz="2700" spc="-254">
                <a:latin typeface="Arial MT"/>
                <a:cs typeface="Arial MT"/>
              </a:rPr>
              <a:t>Chequeo</a:t>
            </a:r>
            <a:r>
              <a:rPr dirty="0" sz="2700" spc="55">
                <a:latin typeface="Arial MT"/>
                <a:cs typeface="Arial MT"/>
              </a:rPr>
              <a:t> </a:t>
            </a:r>
            <a:r>
              <a:rPr dirty="0" sz="2700" spc="-180">
                <a:latin typeface="Arial MT"/>
                <a:cs typeface="Arial MT"/>
              </a:rPr>
              <a:t>de </a:t>
            </a:r>
            <a:r>
              <a:rPr dirty="0" sz="2700" spc="-120">
                <a:latin typeface="Arial MT"/>
                <a:cs typeface="Arial MT"/>
              </a:rPr>
              <a:t>Pendientes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1999408" y="4652433"/>
            <a:ext cx="1123950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-40">
                <a:latin typeface="Arial MT"/>
                <a:cs typeface="Arial MT"/>
              </a:rPr>
              <a:t>Mapeo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1714508" y="5552369"/>
            <a:ext cx="1788160" cy="769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L="19050">
              <a:lnSpc>
                <a:spcPts val="2790"/>
              </a:lnSpc>
              <a:spcBef>
                <a:spcPts val="130"/>
              </a:spcBef>
            </a:pPr>
            <a:r>
              <a:rPr dirty="0" sz="2400">
                <a:latin typeface="Arial MT"/>
                <a:cs typeface="Arial MT"/>
              </a:rPr>
              <a:t>Punto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Fijo</a:t>
            </a:r>
            <a:endParaRPr sz="2400">
              <a:latin typeface="Arial MT"/>
              <a:cs typeface="Arial MT"/>
            </a:endParaRPr>
          </a:p>
          <a:p>
            <a:pPr algn="ctr">
              <a:lnSpc>
                <a:spcPts val="3030"/>
              </a:lnSpc>
            </a:pPr>
            <a:r>
              <a:rPr dirty="0" sz="2600" spc="-105">
                <a:latin typeface="Arial MT"/>
                <a:cs typeface="Arial MT"/>
              </a:rPr>
              <a:t>(Sticky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 spc="-114">
                <a:latin typeface="Arial MT"/>
                <a:cs typeface="Arial MT"/>
              </a:rPr>
              <a:t>Delta)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5562600"/>
            <a:ext cx="15494000" cy="29718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7772" y="619830"/>
            <a:ext cx="8434070" cy="117919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50" spc="-275">
                <a:latin typeface="Calibri"/>
                <a:cs typeface="Calibri"/>
              </a:rPr>
              <a:t>Conclusiones</a:t>
            </a:r>
            <a:r>
              <a:rPr dirty="0" sz="7550" spc="250">
                <a:latin typeface="Calibri"/>
                <a:cs typeface="Calibri"/>
              </a:rPr>
              <a:t> </a:t>
            </a:r>
            <a:r>
              <a:rPr dirty="0" sz="7550" spc="-45">
                <a:latin typeface="Calibri"/>
                <a:cs typeface="Calibri"/>
              </a:rPr>
              <a:t>e</a:t>
            </a:r>
            <a:r>
              <a:rPr dirty="0" sz="7550" spc="-720">
                <a:latin typeface="Calibri"/>
                <a:cs typeface="Calibri"/>
              </a:rPr>
              <a:t> </a:t>
            </a:r>
            <a:r>
              <a:rPr dirty="0" sz="7550" spc="-415">
                <a:latin typeface="Calibri"/>
                <a:cs typeface="Calibri"/>
              </a:rPr>
              <a:t>Impacto</a:t>
            </a:r>
            <a:endParaRPr sz="75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45"/>
              </a:lnSpc>
            </a:pPr>
            <a:r>
              <a:rPr dirty="0" spc="120"/>
              <a:t>W</a:t>
            </a:r>
            <a:r>
              <a:rPr dirty="0" spc="110"/>
              <a:t> </a:t>
            </a:r>
            <a:r>
              <a:rPr dirty="0" spc="-35"/>
              <a:t>NotebaokLM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949861" y="2065949"/>
            <a:ext cx="4274185" cy="2746375"/>
          </a:xfrm>
          <a:prstGeom prst="rect">
            <a:avLst/>
          </a:prstGeom>
        </p:spPr>
        <p:txBody>
          <a:bodyPr wrap="square" lIns="0" tIns="181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dirty="0" sz="3800" spc="60">
                <a:latin typeface="Calibri"/>
                <a:cs typeface="Calibri"/>
              </a:rPr>
              <a:t>Eficiencia</a:t>
            </a:r>
            <a:endParaRPr sz="3800">
              <a:latin typeface="Calibri"/>
              <a:cs typeface="Calibri"/>
            </a:endParaRPr>
          </a:p>
          <a:p>
            <a:pPr marL="23495" marR="5080" indent="9525">
              <a:lnSpc>
                <a:spcPts val="3500"/>
              </a:lnSpc>
              <a:spcBef>
                <a:spcPts val="1590"/>
              </a:spcBef>
            </a:pPr>
            <a:r>
              <a:rPr dirty="0" sz="3250" spc="-114">
                <a:latin typeface="Calibri"/>
                <a:cs typeface="Calibri"/>
              </a:rPr>
              <a:t>Calibración</a:t>
            </a:r>
            <a:r>
              <a:rPr dirty="0" sz="3250" spc="-60">
                <a:latin typeface="Calibri"/>
                <a:cs typeface="Calibri"/>
              </a:rPr>
              <a:t> instantánea </a:t>
            </a:r>
            <a:r>
              <a:rPr dirty="0" sz="3100" spc="-90">
                <a:latin typeface="Calibri"/>
                <a:cs typeface="Calibri"/>
              </a:rPr>
              <a:t>mediante</a:t>
            </a:r>
            <a:r>
              <a:rPr dirty="0" sz="3100" spc="-70">
                <a:latin typeface="Calibri"/>
                <a:cs typeface="Calibri"/>
              </a:rPr>
              <a:t> </a:t>
            </a:r>
            <a:r>
              <a:rPr dirty="0" sz="3100" spc="-50">
                <a:latin typeface="Calibri"/>
                <a:cs typeface="Calibri"/>
              </a:rPr>
              <a:t>álgebra</a:t>
            </a:r>
            <a:r>
              <a:rPr dirty="0" sz="3100" spc="-125">
                <a:latin typeface="Calibri"/>
                <a:cs typeface="Calibri"/>
              </a:rPr>
              <a:t> </a:t>
            </a:r>
            <a:r>
              <a:rPr dirty="0" sz="3100" spc="-55">
                <a:latin typeface="Calibri"/>
                <a:cs typeface="Calibri"/>
              </a:rPr>
              <a:t>lineal</a:t>
            </a:r>
            <a:r>
              <a:rPr dirty="0" sz="3100" spc="-80">
                <a:latin typeface="Calibri"/>
                <a:cs typeface="Calibri"/>
              </a:rPr>
              <a:t> </a:t>
            </a:r>
            <a:r>
              <a:rPr dirty="0" sz="3100" spc="-20">
                <a:latin typeface="Calibri"/>
                <a:cs typeface="Calibri"/>
              </a:rPr>
              <a:t>(sin </a:t>
            </a:r>
            <a:r>
              <a:rPr dirty="0" sz="3100" spc="-65">
                <a:latin typeface="Calibri"/>
                <a:cs typeface="Calibri"/>
              </a:rPr>
              <a:t>iteraciones</a:t>
            </a:r>
            <a:r>
              <a:rPr dirty="0" sz="3100" spc="-30">
                <a:latin typeface="Calibri"/>
                <a:cs typeface="Calibri"/>
              </a:rPr>
              <a:t> </a:t>
            </a:r>
            <a:r>
              <a:rPr dirty="0" sz="3100">
                <a:latin typeface="Calibri"/>
                <a:cs typeface="Calibri"/>
              </a:rPr>
              <a:t>ni</a:t>
            </a:r>
            <a:r>
              <a:rPr dirty="0" sz="3100" spc="-95">
                <a:latin typeface="Calibri"/>
                <a:cs typeface="Calibri"/>
              </a:rPr>
              <a:t> </a:t>
            </a:r>
            <a:r>
              <a:rPr dirty="0" sz="3100" spc="-10">
                <a:latin typeface="Calibri"/>
                <a:cs typeface="Calibri"/>
              </a:rPr>
              <a:t>solvers </a:t>
            </a:r>
            <a:r>
              <a:rPr dirty="0" sz="3200" spc="-10">
                <a:latin typeface="Calibri"/>
                <a:cs typeface="Calibri"/>
              </a:rPr>
              <a:t>inestables).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340042" y="2105700"/>
            <a:ext cx="4319905" cy="2712720"/>
          </a:xfrm>
          <a:prstGeom prst="rect">
            <a:avLst/>
          </a:prstGeom>
        </p:spPr>
        <p:txBody>
          <a:bodyPr wrap="square" lIns="0" tIns="1739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dirty="0" sz="3550" spc="-10">
                <a:latin typeface="Arial MT"/>
                <a:cs typeface="Arial MT"/>
              </a:rPr>
              <a:t>Robustez</a:t>
            </a:r>
            <a:endParaRPr sz="3550">
              <a:latin typeface="Arial MT"/>
              <a:cs typeface="Arial MT"/>
            </a:endParaRPr>
          </a:p>
          <a:p>
            <a:pPr marL="16510" marR="5080" indent="-635">
              <a:lnSpc>
                <a:spcPct val="93400"/>
              </a:lnSpc>
              <a:spcBef>
                <a:spcPts val="1445"/>
              </a:spcBef>
            </a:pPr>
            <a:r>
              <a:rPr dirty="0" sz="3250" spc="-160">
                <a:latin typeface="Calibri"/>
                <a:cs typeface="Calibri"/>
              </a:rPr>
              <a:t>Garantía</a:t>
            </a:r>
            <a:r>
              <a:rPr dirty="0" sz="3250" spc="-20">
                <a:latin typeface="Calibri"/>
                <a:cs typeface="Calibri"/>
              </a:rPr>
              <a:t> </a:t>
            </a:r>
            <a:r>
              <a:rPr dirty="0" sz="3250" spc="-140">
                <a:latin typeface="Calibri"/>
                <a:cs typeface="Calibri"/>
              </a:rPr>
              <a:t>matemática</a:t>
            </a:r>
            <a:r>
              <a:rPr dirty="0" sz="3250" spc="35">
                <a:latin typeface="Calibri"/>
                <a:cs typeface="Calibri"/>
              </a:rPr>
              <a:t> </a:t>
            </a:r>
            <a:r>
              <a:rPr dirty="0" sz="3250" spc="-25">
                <a:latin typeface="Calibri"/>
                <a:cs typeface="Calibri"/>
              </a:rPr>
              <a:t>de </a:t>
            </a:r>
            <a:r>
              <a:rPr dirty="0" sz="3100" spc="-10">
                <a:latin typeface="Calibri"/>
                <a:cs typeface="Calibri"/>
              </a:rPr>
              <a:t>ausencia</a:t>
            </a:r>
            <a:r>
              <a:rPr dirty="0" sz="3100" spc="-114">
                <a:latin typeface="Calibri"/>
                <a:cs typeface="Calibri"/>
              </a:rPr>
              <a:t> </a:t>
            </a:r>
            <a:r>
              <a:rPr dirty="0" sz="3100">
                <a:latin typeface="Calibri"/>
                <a:cs typeface="Calibri"/>
              </a:rPr>
              <a:t>de</a:t>
            </a:r>
            <a:r>
              <a:rPr dirty="0" sz="3100" spc="-150">
                <a:latin typeface="Calibri"/>
                <a:cs typeface="Calibri"/>
              </a:rPr>
              <a:t> </a:t>
            </a:r>
            <a:r>
              <a:rPr dirty="0" sz="3100" spc="-110">
                <a:latin typeface="Calibri"/>
                <a:cs typeface="Calibri"/>
              </a:rPr>
              <a:t>arbitraje</a:t>
            </a:r>
            <a:r>
              <a:rPr dirty="0" sz="3100" spc="-35">
                <a:latin typeface="Calibri"/>
                <a:cs typeface="Calibri"/>
              </a:rPr>
              <a:t> </a:t>
            </a:r>
            <a:r>
              <a:rPr dirty="0" sz="3100" spc="-25">
                <a:latin typeface="Calibri"/>
                <a:cs typeface="Calibri"/>
              </a:rPr>
              <a:t>de </a:t>
            </a:r>
            <a:r>
              <a:rPr dirty="0" sz="3100" spc="-65">
                <a:latin typeface="Calibri"/>
                <a:cs typeface="Calibri"/>
              </a:rPr>
              <a:t>calendario</a:t>
            </a:r>
            <a:r>
              <a:rPr dirty="0" sz="3100" spc="-110">
                <a:latin typeface="Calibri"/>
                <a:cs typeface="Calibri"/>
              </a:rPr>
              <a:t> </a:t>
            </a:r>
            <a:r>
              <a:rPr dirty="0" sz="3100" spc="-90">
                <a:latin typeface="Calibri"/>
                <a:cs typeface="Calibri"/>
              </a:rPr>
              <a:t>mediante</a:t>
            </a:r>
            <a:r>
              <a:rPr dirty="0" sz="3100" spc="-50">
                <a:latin typeface="Calibri"/>
                <a:cs typeface="Calibri"/>
              </a:rPr>
              <a:t> </a:t>
            </a:r>
            <a:r>
              <a:rPr dirty="0" sz="3100" spc="-65">
                <a:latin typeface="Calibri"/>
                <a:cs typeface="Calibri"/>
              </a:rPr>
              <a:t>control </a:t>
            </a:r>
            <a:r>
              <a:rPr dirty="0" sz="3200" spc="-30">
                <a:latin typeface="Calibri"/>
                <a:cs typeface="Calibri"/>
              </a:rPr>
              <a:t>asintótico.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706020" y="2025521"/>
            <a:ext cx="4752340" cy="2787650"/>
          </a:xfrm>
          <a:prstGeom prst="rect">
            <a:avLst/>
          </a:prstGeom>
        </p:spPr>
        <p:txBody>
          <a:bodyPr wrap="square" lIns="0" tIns="2222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0"/>
              </a:spcBef>
            </a:pPr>
            <a:r>
              <a:rPr dirty="0" sz="3850">
                <a:latin typeface="Calibri"/>
                <a:cs typeface="Calibri"/>
              </a:rPr>
              <a:t>Precisión</a:t>
            </a:r>
            <a:r>
              <a:rPr dirty="0" sz="3850" spc="170">
                <a:latin typeface="Calibri"/>
                <a:cs typeface="Calibri"/>
              </a:rPr>
              <a:t> </a:t>
            </a:r>
            <a:r>
              <a:rPr dirty="0" sz="3850" spc="75">
                <a:latin typeface="Calibri"/>
                <a:cs typeface="Calibri"/>
              </a:rPr>
              <a:t>de</a:t>
            </a:r>
            <a:r>
              <a:rPr dirty="0" sz="3850" spc="-40">
                <a:latin typeface="Calibri"/>
                <a:cs typeface="Calibri"/>
              </a:rPr>
              <a:t> </a:t>
            </a:r>
            <a:r>
              <a:rPr dirty="0" sz="3850" spc="-10">
                <a:latin typeface="Calibri"/>
                <a:cs typeface="Calibri"/>
              </a:rPr>
              <a:t>Mercado</a:t>
            </a:r>
            <a:endParaRPr sz="3850">
              <a:latin typeface="Calibri"/>
              <a:cs typeface="Calibri"/>
            </a:endParaRPr>
          </a:p>
          <a:p>
            <a:pPr marL="25400" marR="5080" indent="-4445">
              <a:lnSpc>
                <a:spcPct val="100299"/>
              </a:lnSpc>
              <a:spcBef>
                <a:spcPts val="1270"/>
              </a:spcBef>
            </a:pPr>
            <a:r>
              <a:rPr dirty="0" sz="3050" spc="-60">
                <a:latin typeface="Calibri"/>
                <a:cs typeface="Calibri"/>
              </a:rPr>
              <a:t>Mapeo</a:t>
            </a:r>
            <a:r>
              <a:rPr dirty="0" sz="3050" spc="-45">
                <a:latin typeface="Calibri"/>
                <a:cs typeface="Calibri"/>
              </a:rPr>
              <a:t> </a:t>
            </a:r>
            <a:r>
              <a:rPr dirty="0" sz="3050">
                <a:latin typeface="Calibri"/>
                <a:cs typeface="Calibri"/>
              </a:rPr>
              <a:t>exacto</a:t>
            </a:r>
            <a:r>
              <a:rPr dirty="0" sz="3050" spc="-60">
                <a:latin typeface="Calibri"/>
                <a:cs typeface="Calibri"/>
              </a:rPr>
              <a:t> </a:t>
            </a:r>
            <a:r>
              <a:rPr dirty="0" sz="3050">
                <a:latin typeface="Calibri"/>
                <a:cs typeface="Calibri"/>
              </a:rPr>
              <a:t>de</a:t>
            </a:r>
            <a:r>
              <a:rPr dirty="0" sz="3050" spc="-145">
                <a:latin typeface="Calibri"/>
                <a:cs typeface="Calibri"/>
              </a:rPr>
              <a:t> </a:t>
            </a:r>
            <a:r>
              <a:rPr dirty="0" sz="3050">
                <a:latin typeface="Calibri"/>
                <a:cs typeface="Calibri"/>
              </a:rPr>
              <a:t>Sticky</a:t>
            </a:r>
            <a:r>
              <a:rPr dirty="0" sz="3050" spc="-40">
                <a:latin typeface="Calibri"/>
                <a:cs typeface="Calibri"/>
              </a:rPr>
              <a:t> </a:t>
            </a:r>
            <a:r>
              <a:rPr dirty="0" sz="3050" spc="-30">
                <a:latin typeface="Calibri"/>
                <a:cs typeface="Calibri"/>
              </a:rPr>
              <a:t>Deltas </a:t>
            </a:r>
            <a:r>
              <a:rPr dirty="0" sz="2950">
                <a:latin typeface="Calibri"/>
                <a:cs typeface="Calibri"/>
              </a:rPr>
              <a:t>mediante</a:t>
            </a:r>
            <a:r>
              <a:rPr dirty="0" sz="2950" spc="-20">
                <a:latin typeface="Calibri"/>
                <a:cs typeface="Calibri"/>
              </a:rPr>
              <a:t> </a:t>
            </a:r>
            <a:r>
              <a:rPr dirty="0" sz="2950" spc="-25">
                <a:latin typeface="Calibri"/>
                <a:cs typeface="Calibri"/>
              </a:rPr>
              <a:t>interpolación</a:t>
            </a:r>
            <a:r>
              <a:rPr dirty="0" sz="2950" spc="50">
                <a:latin typeface="Calibri"/>
                <a:cs typeface="Calibri"/>
              </a:rPr>
              <a:t> </a:t>
            </a:r>
            <a:r>
              <a:rPr dirty="0" sz="2950" spc="110">
                <a:latin typeface="Calibri"/>
                <a:cs typeface="Calibri"/>
              </a:rPr>
              <a:t>PCHIP </a:t>
            </a:r>
            <a:r>
              <a:rPr dirty="0" sz="2850">
                <a:latin typeface="Calibri"/>
                <a:cs typeface="Calibri"/>
              </a:rPr>
              <a:t>preservando</a:t>
            </a:r>
            <a:r>
              <a:rPr dirty="0" sz="2850" spc="540">
                <a:latin typeface="Calibri"/>
                <a:cs typeface="Calibri"/>
              </a:rPr>
              <a:t> </a:t>
            </a:r>
            <a:r>
              <a:rPr dirty="0" sz="2850" spc="-25">
                <a:latin typeface="Calibri"/>
                <a:cs typeface="Calibri"/>
              </a:rPr>
              <a:t>la</a:t>
            </a:r>
            <a:r>
              <a:rPr dirty="0" sz="2850" spc="710">
                <a:latin typeface="Calibri"/>
                <a:cs typeface="Calibri"/>
              </a:rPr>
              <a:t> </a:t>
            </a:r>
            <a:r>
              <a:rPr dirty="0" sz="2950" spc="-10">
                <a:latin typeface="Calibri"/>
                <a:cs typeface="Calibri"/>
              </a:rPr>
              <a:t>monotonicidad.</a:t>
            </a:r>
            <a:endParaRPr sz="29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4742058" y="8901994"/>
            <a:ext cx="1756410" cy="4914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50" spc="-35">
                <a:latin typeface="Calibri"/>
                <a:cs typeface="Calibri"/>
              </a:rPr>
              <a:t>üuants</a:t>
            </a:r>
            <a:r>
              <a:rPr dirty="0" sz="3050" spc="-105">
                <a:latin typeface="Calibri"/>
                <a:cs typeface="Calibri"/>
              </a:rPr>
              <a:t> </a:t>
            </a:r>
            <a:r>
              <a:rPr dirty="0" sz="3050" spc="-25">
                <a:latin typeface="Calibri"/>
                <a:cs typeface="Calibri"/>
              </a:rPr>
              <a:t>TVR</a:t>
            </a:r>
            <a:endParaRPr sz="3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2026-01-28T19:30:41Z</dcterms:created>
  <dcterms:modified xsi:type="dcterms:W3CDTF">2026-01-28T19:30:41Z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2026-01-28T00:00:00Z</vt:filetime>
  </property>
  <property fmtid="{D5CDD505-2E9C-101B-9397-08002B2CF9AE}" pid="3" name="LastSaved">
    <vt:filetime>2026-01-28T00:00:00Z</vt:filetime>
  </property>
</Properties>
</file>